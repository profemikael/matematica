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7BCAF7-0EE5-0B1C-7974-A6140C4A54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0008BC-A610-021F-62E0-3DE27B532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7486E9-A5D3-57C3-8FAD-02EB91067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4A9F-69A0-4C78-9A3B-025362C47483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9573E4-D28C-3812-75B8-7DC4B9F67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4C085E-3D4F-323F-B167-E123940AA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238D-CC1E-4BED-9F03-525F4C91FB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8361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996E32-35F0-B04C-76CF-313D8D0C7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271FBE-C0CA-6D02-E1CD-051EE905A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11B9F0-6073-B149-A109-924844227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4A9F-69A0-4C78-9A3B-025362C47483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CAA06D-04A3-83B9-E135-D4FD20A9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4C3C3D-056B-F849-4856-A710C372E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238D-CC1E-4BED-9F03-525F4C91FB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1663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5358B0-96DA-3D25-083F-EF5CE52FB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799197-7305-72E3-875F-6806315CB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7B44C3-E131-0036-D928-B30F3335C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4A9F-69A0-4C78-9A3B-025362C47483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262631-4BD8-9FA5-55CA-42F07014F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72F73E-9D36-D071-1A15-231EB944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238D-CC1E-4BED-9F03-525F4C91FB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3879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B5ED2-8F16-AE09-AA33-4B7FCC7E2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4B8217-8167-CC84-89C1-622444D4B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2A58001-7760-8873-3E11-EAA9920C6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24B376-0AC9-B889-74BB-F2B78C50E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4A9F-69A0-4C78-9A3B-025362C47483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23F923-9EB6-6B20-7C9C-6213C18D2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686D05-8D8B-9586-54FB-0F7E2C8E3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238D-CC1E-4BED-9F03-525F4C91FB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099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A07703-3F72-E14E-3657-02E2938E7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07E079-1E73-6C01-F7DB-61C8FCF96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89F05C-2F89-5D32-20A0-8DB097AA5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9649341-0FCE-CCD3-7D0C-991626D1B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AF5F47-6C06-D332-3737-626E3C537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E68042F-C95E-15CD-1CEC-1D5C72548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4A9F-69A0-4C78-9A3B-025362C47483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D1096F7-E837-4934-6AAF-F78826527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442064-AE3A-C8DA-3C2B-491A02B60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238D-CC1E-4BED-9F03-525F4C91FB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6415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16376-5ED1-C32E-F973-6E85D8F30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63CBF88-16A0-0BC0-3E74-3D1035C7E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4A9F-69A0-4C78-9A3B-025362C47483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D9B2F4-60B0-A9F0-44EC-710ACF2E7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65EBDCD-0E52-2F65-4E97-EA9738D6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238D-CC1E-4BED-9F03-525F4C91FB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69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9C6F493-DAF1-778D-C881-09D9EF283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4A9F-69A0-4C78-9A3B-025362C47483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85F404B-F693-6EF8-C69E-9373D0835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F68010-19F9-92C4-A0AB-F525DBD5C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238D-CC1E-4BED-9F03-525F4C91FB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4361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6C8B7-C853-40B8-CA39-A38B197E5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75D586-33A6-84CB-4C3C-6B33C91F2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EA74AAA-06B2-0322-BFB4-3B7F2824E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E07E3B-3FE7-069E-6220-A8BDF28E5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4A9F-69A0-4C78-9A3B-025362C47483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0EC7D4-3636-5C4E-11F5-9680F35AC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106E794-43A8-C7A4-7C1E-2CB12FEDD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238D-CC1E-4BED-9F03-525F4C91FB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7581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981C4-8947-A4B1-798F-92C8799FE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6369F33-794C-6B43-6246-9C6316401D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F768181-1FE4-EF74-4B2C-1E94B662A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022E8C-92E8-DB98-FB59-A9153304E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4A9F-69A0-4C78-9A3B-025362C47483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CFA4A5-12D5-F2EE-9949-962E198EE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E09060-F539-D055-C40E-17C51372E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238D-CC1E-4BED-9F03-525F4C91FB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819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A03E0-3415-6483-0D05-821834F37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305524-D065-3CAE-6F33-D02351BAF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4FA26A-B545-2A87-9AAF-F4DCEA3B9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4A9F-69A0-4C78-9A3B-025362C47483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02A0BC-1B82-4C27-4287-6B1C9DFDD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5CBCBC-949E-26A4-C77B-FDF76BBD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238D-CC1E-4BED-9F03-525F4C91FB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888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BB0BC4A-56D2-F189-ED16-FC92A5186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91A90F5-94DE-29EA-4180-3DEB161BD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4E5A71-81CE-2433-E1AE-717A453FC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4A9F-69A0-4C78-9A3B-025362C47483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6DE840-FCEC-3080-6EBF-3EFCBC4A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EEA150-3B9C-E72E-6B21-009F4C521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238D-CC1E-4BED-9F03-525F4C91FB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628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C359777-7BC2-6137-6F18-8239C2253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8C40AE-3BB9-F23F-1656-3175EE8C9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98C10F-ED90-4769-4567-DF1EA1BD33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24A9F-69A0-4C78-9A3B-025362C47483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E60975-D425-B204-0A18-1DE9FF7D8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727865-FE1F-EEDF-C2AD-687D585C5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1238D-CC1E-4BED-9F03-525F4C91FB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495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DC0B63E-B496-E6C9-675D-569544F5164A}"/>
              </a:ext>
            </a:extLst>
          </p:cNvPr>
          <p:cNvSpPr txBox="1"/>
          <p:nvPr/>
        </p:nvSpPr>
        <p:spPr>
          <a:xfrm>
            <a:off x="482600" y="228600"/>
            <a:ext cx="1016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8800" b="1">
                <a:solidFill>
                  <a:srgbClr val="C8D7F5"/>
                </a:solidFill>
              </a:rPr>
              <a:t>π</a:t>
            </a:r>
            <a:endParaRPr lang="pt-BR" sz="8800" b="1">
              <a:solidFill>
                <a:srgbClr val="C8D7F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F32AB6F-079B-960E-20B3-5BC50CBFA907}"/>
              </a:ext>
            </a:extLst>
          </p:cNvPr>
          <p:cNvSpPr txBox="1"/>
          <p:nvPr/>
        </p:nvSpPr>
        <p:spPr>
          <a:xfrm>
            <a:off x="10820400" y="177800"/>
            <a:ext cx="1016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8000" b="1">
                <a:solidFill>
                  <a:srgbClr val="C8D7F5"/>
                </a:solidFill>
              </a:rPr>
              <a:t>∑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60D0DEA-7B63-E29F-D429-D246B51A6A02}"/>
              </a:ext>
            </a:extLst>
          </p:cNvPr>
          <p:cNvSpPr txBox="1"/>
          <p:nvPr/>
        </p:nvSpPr>
        <p:spPr>
          <a:xfrm>
            <a:off x="279400" y="4889500"/>
            <a:ext cx="1016000" cy="12311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7400" b="1">
                <a:solidFill>
                  <a:srgbClr val="C8D7F5"/>
                </a:solidFill>
              </a:rPr>
              <a:t>√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24A5D06-FEDB-9549-3350-B15326C48668}"/>
              </a:ext>
            </a:extLst>
          </p:cNvPr>
          <p:cNvSpPr txBox="1"/>
          <p:nvPr/>
        </p:nvSpPr>
        <p:spPr>
          <a:xfrm>
            <a:off x="11023600" y="5270500"/>
            <a:ext cx="1016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800" b="1">
                <a:solidFill>
                  <a:srgbClr val="C8D7F5"/>
                </a:solidFill>
              </a:rPr>
              <a:t>∞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B390727-0C93-B428-0B03-C78AA219DFC1}"/>
              </a:ext>
            </a:extLst>
          </p:cNvPr>
          <p:cNvSpPr txBox="1"/>
          <p:nvPr/>
        </p:nvSpPr>
        <p:spPr>
          <a:xfrm>
            <a:off x="5715000" y="101600"/>
            <a:ext cx="1016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800" b="1">
                <a:solidFill>
                  <a:srgbClr val="C8D7F5"/>
                </a:solidFill>
              </a:rPr>
              <a:t>÷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E497D14-84AA-E953-BB49-9C854C306DBE}"/>
              </a:ext>
            </a:extLst>
          </p:cNvPr>
          <p:cNvSpPr txBox="1"/>
          <p:nvPr/>
        </p:nvSpPr>
        <p:spPr>
          <a:xfrm>
            <a:off x="8890000" y="5715000"/>
            <a:ext cx="1016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400" b="1">
                <a:solidFill>
                  <a:srgbClr val="C8D7F5"/>
                </a:solidFill>
              </a:rPr>
              <a:t>×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62FF668-4FCF-7133-D6A9-D7CA9918AFE0}"/>
              </a:ext>
            </a:extLst>
          </p:cNvPr>
          <p:cNvSpPr txBox="1"/>
          <p:nvPr/>
        </p:nvSpPr>
        <p:spPr>
          <a:xfrm>
            <a:off x="1879600" y="5588000"/>
            <a:ext cx="101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400" b="1">
                <a:solidFill>
                  <a:srgbClr val="C8D7F5"/>
                </a:solidFill>
              </a:rPr>
              <a:t>²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31C0962-52BA-D367-0CBC-CF9D0B4A711D}"/>
              </a:ext>
            </a:extLst>
          </p:cNvPr>
          <p:cNvSpPr txBox="1"/>
          <p:nvPr/>
        </p:nvSpPr>
        <p:spPr>
          <a:xfrm>
            <a:off x="1066800" y="2349500"/>
            <a:ext cx="1016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6200" b="1">
                <a:solidFill>
                  <a:srgbClr val="C8D7F5"/>
                </a:solidFill>
              </a:rPr>
              <a:t>Δ</a:t>
            </a:r>
            <a:endParaRPr lang="pt-BR" sz="6200" b="1">
              <a:solidFill>
                <a:srgbClr val="C8D7F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B1A0714-3BC0-9996-9F95-C6884F805580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43C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7D7B332-0EEA-78A5-D405-F2CDC3973D02}"/>
              </a:ext>
            </a:extLst>
          </p:cNvPr>
          <p:cNvSpPr/>
          <p:nvPr/>
        </p:nvSpPr>
        <p:spPr>
          <a:xfrm>
            <a:off x="152400" y="0"/>
            <a:ext cx="4318000" cy="6858000"/>
          </a:xfrm>
          <a:prstGeom prst="rect">
            <a:avLst/>
          </a:prstGeom>
          <a:solidFill>
            <a:srgbClr val="E8F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C5A89C7-5CD1-34FC-EE5A-D982E01C74DB}"/>
              </a:ext>
            </a:extLst>
          </p:cNvPr>
          <p:cNvSpPr/>
          <p:nvPr/>
        </p:nvSpPr>
        <p:spPr>
          <a:xfrm>
            <a:off x="152400" y="1422400"/>
            <a:ext cx="4318000" cy="50800"/>
          </a:xfrm>
          <a:prstGeom prst="rect">
            <a:avLst/>
          </a:prstGeom>
          <a:solidFill>
            <a:srgbClr val="143C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21891B8-F985-799A-360B-9F5CD1AE02B7}"/>
              </a:ext>
            </a:extLst>
          </p:cNvPr>
          <p:cNvSpPr/>
          <p:nvPr/>
        </p:nvSpPr>
        <p:spPr>
          <a:xfrm>
            <a:off x="152400" y="4978400"/>
            <a:ext cx="4318000" cy="50800"/>
          </a:xfrm>
          <a:prstGeom prst="rect">
            <a:avLst/>
          </a:prstGeom>
          <a:solidFill>
            <a:srgbClr val="143C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33B51B2-8F37-F242-7023-4943920394C9}"/>
              </a:ext>
            </a:extLst>
          </p:cNvPr>
          <p:cNvSpPr txBox="1"/>
          <p:nvPr/>
        </p:nvSpPr>
        <p:spPr>
          <a:xfrm>
            <a:off x="304800" y="304800"/>
            <a:ext cx="4013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200" b="1">
                <a:solidFill>
                  <a:srgbClr val="143CA0"/>
                </a:solidFill>
              </a:rPr>
              <a:t>MATEMÁTICA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20931A9-0DFD-8E73-8E5B-1892F14A371A}"/>
              </a:ext>
            </a:extLst>
          </p:cNvPr>
          <p:cNvSpPr txBox="1"/>
          <p:nvPr/>
        </p:nvSpPr>
        <p:spPr>
          <a:xfrm>
            <a:off x="304800" y="1549400"/>
            <a:ext cx="4013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600">
                <a:solidFill>
                  <a:srgbClr val="5F697D"/>
                </a:solidFill>
              </a:rPr>
              <a:t>6.º ANO  |  2.º TRIMESTRE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6DEB2F7-265B-560B-08D2-06EFE9D7888D}"/>
              </a:ext>
            </a:extLst>
          </p:cNvPr>
          <p:cNvSpPr txBox="1"/>
          <p:nvPr/>
        </p:nvSpPr>
        <p:spPr>
          <a:xfrm>
            <a:off x="304800" y="2336800"/>
            <a:ext cx="4013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4800" b="1">
                <a:solidFill>
                  <a:srgbClr val="0A1E5A"/>
                </a:solidFill>
              </a:rPr>
              <a:t>Aula 02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5F1F808-2234-ADBC-55F9-AEAB935CDFA7}"/>
              </a:ext>
            </a:extLst>
          </p:cNvPr>
          <p:cNvSpPr txBox="1"/>
          <p:nvPr/>
        </p:nvSpPr>
        <p:spPr>
          <a:xfrm>
            <a:off x="304800" y="4038600"/>
            <a:ext cx="4013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>
                <a:solidFill>
                  <a:srgbClr val="5F697D"/>
                </a:solidFill>
              </a:rPr>
              <a:t>Prof. Mikael Maronez Freitas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FA62E8B-5E23-037C-A2B7-1D8CF1499888}"/>
              </a:ext>
            </a:extLst>
          </p:cNvPr>
          <p:cNvSpPr txBox="1"/>
          <p:nvPr/>
        </p:nvSpPr>
        <p:spPr>
          <a:xfrm>
            <a:off x="4762500" y="14605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6800" b="1">
                <a:solidFill>
                  <a:srgbClr val="0A1E5A"/>
                </a:solidFill>
              </a:rPr>
              <a:t>Divisores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87EE47A-1359-128E-C4C0-8BC45CA1814D}"/>
              </a:ext>
            </a:extLst>
          </p:cNvPr>
          <p:cNvSpPr txBox="1"/>
          <p:nvPr/>
        </p:nvSpPr>
        <p:spPr>
          <a:xfrm>
            <a:off x="4762500" y="29591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3600">
                <a:solidFill>
                  <a:srgbClr val="143CA0"/>
                </a:solidFill>
              </a:rPr>
              <a:t>de um Número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3204F33-F0EE-5FD3-2F25-58C6BF151E0F}"/>
              </a:ext>
            </a:extLst>
          </p:cNvPr>
          <p:cNvSpPr/>
          <p:nvPr/>
        </p:nvSpPr>
        <p:spPr>
          <a:xfrm>
            <a:off x="5080000" y="3873500"/>
            <a:ext cx="6477000" cy="635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A36908E-601C-EF97-9587-67E6D7714DD8}"/>
              </a:ext>
            </a:extLst>
          </p:cNvPr>
          <p:cNvSpPr txBox="1"/>
          <p:nvPr/>
        </p:nvSpPr>
        <p:spPr>
          <a:xfrm>
            <a:off x="4762500" y="40640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700">
                <a:solidFill>
                  <a:srgbClr val="5F697D"/>
                </a:solidFill>
              </a:rPr>
              <a:t>Propriedades · Exemplos · Exercícios</a:t>
            </a:r>
          </a:p>
        </p:txBody>
      </p:sp>
    </p:spTree>
    <p:extLst>
      <p:ext uri="{BB962C8B-B14F-4D97-AF65-F5344CB8AC3E}">
        <p14:creationId xmlns:p14="http://schemas.microsoft.com/office/powerpoint/2010/main" val="3498157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EC984CA-6D60-7026-DFED-C21B9EBDA6D9}"/>
              </a:ext>
            </a:extLst>
          </p:cNvPr>
          <p:cNvSpPr txBox="1"/>
          <p:nvPr/>
        </p:nvSpPr>
        <p:spPr>
          <a:xfrm>
            <a:off x="482600" y="228600"/>
            <a:ext cx="1016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8800" b="1">
                <a:solidFill>
                  <a:srgbClr val="C8D7F5"/>
                </a:solidFill>
              </a:rPr>
              <a:t>π</a:t>
            </a:r>
            <a:endParaRPr lang="pt-BR" sz="8800" b="1">
              <a:solidFill>
                <a:srgbClr val="C8D7F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B400F38-D5B6-E6D9-8772-94C220570CB5}"/>
              </a:ext>
            </a:extLst>
          </p:cNvPr>
          <p:cNvSpPr txBox="1"/>
          <p:nvPr/>
        </p:nvSpPr>
        <p:spPr>
          <a:xfrm>
            <a:off x="10820400" y="177800"/>
            <a:ext cx="1016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8000" b="1">
                <a:solidFill>
                  <a:srgbClr val="C8D7F5"/>
                </a:solidFill>
              </a:rPr>
              <a:t>∑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68E2B55-6220-13D2-FE0B-3127989965DA}"/>
              </a:ext>
            </a:extLst>
          </p:cNvPr>
          <p:cNvSpPr txBox="1"/>
          <p:nvPr/>
        </p:nvSpPr>
        <p:spPr>
          <a:xfrm>
            <a:off x="279400" y="4889500"/>
            <a:ext cx="1016000" cy="12311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7400" b="1">
                <a:solidFill>
                  <a:srgbClr val="C8D7F5"/>
                </a:solidFill>
              </a:rPr>
              <a:t>√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4523B7E-64A1-A1E0-8B2A-5E6368315A4C}"/>
              </a:ext>
            </a:extLst>
          </p:cNvPr>
          <p:cNvSpPr txBox="1"/>
          <p:nvPr/>
        </p:nvSpPr>
        <p:spPr>
          <a:xfrm>
            <a:off x="11023600" y="5270500"/>
            <a:ext cx="1016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800" b="1">
                <a:solidFill>
                  <a:srgbClr val="C8D7F5"/>
                </a:solidFill>
              </a:rPr>
              <a:t>∞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C12720E-81DB-39CC-F52D-DF62FF9D254F}"/>
              </a:ext>
            </a:extLst>
          </p:cNvPr>
          <p:cNvSpPr txBox="1"/>
          <p:nvPr/>
        </p:nvSpPr>
        <p:spPr>
          <a:xfrm>
            <a:off x="5715000" y="101600"/>
            <a:ext cx="1016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800" b="1">
                <a:solidFill>
                  <a:srgbClr val="C8D7F5"/>
                </a:solidFill>
              </a:rPr>
              <a:t>÷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9F82D18-9EC4-18B3-3064-9C252ECE0579}"/>
              </a:ext>
            </a:extLst>
          </p:cNvPr>
          <p:cNvSpPr txBox="1"/>
          <p:nvPr/>
        </p:nvSpPr>
        <p:spPr>
          <a:xfrm>
            <a:off x="8890000" y="5715000"/>
            <a:ext cx="1016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400" b="1">
                <a:solidFill>
                  <a:srgbClr val="C8D7F5"/>
                </a:solidFill>
              </a:rPr>
              <a:t>×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34464EE-5357-A1FE-9B12-D19968A4677D}"/>
              </a:ext>
            </a:extLst>
          </p:cNvPr>
          <p:cNvSpPr txBox="1"/>
          <p:nvPr/>
        </p:nvSpPr>
        <p:spPr>
          <a:xfrm>
            <a:off x="1879600" y="5588000"/>
            <a:ext cx="101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400" b="1">
                <a:solidFill>
                  <a:srgbClr val="C8D7F5"/>
                </a:solidFill>
              </a:rPr>
              <a:t>²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7A1F449-5C0E-1B69-1AA2-F91F5258ADE1}"/>
              </a:ext>
            </a:extLst>
          </p:cNvPr>
          <p:cNvSpPr txBox="1"/>
          <p:nvPr/>
        </p:nvSpPr>
        <p:spPr>
          <a:xfrm>
            <a:off x="1066800" y="2349500"/>
            <a:ext cx="1016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6200" b="1">
                <a:solidFill>
                  <a:srgbClr val="C8D7F5"/>
                </a:solidFill>
              </a:rPr>
              <a:t>Δ</a:t>
            </a:r>
            <a:endParaRPr lang="pt-BR" sz="6200" b="1">
              <a:solidFill>
                <a:srgbClr val="C8D7F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66A44CE-E2ED-E366-E516-18447729AEE4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A1E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B44E522-55AE-AA37-6A47-60864364D938}"/>
              </a:ext>
            </a:extLst>
          </p:cNvPr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117E70D-E104-5568-DD70-6D227075C226}"/>
              </a:ext>
            </a:extLst>
          </p:cNvPr>
          <p:cNvSpPr txBox="1"/>
          <p:nvPr/>
        </p:nvSpPr>
        <p:spPr>
          <a:xfrm>
            <a:off x="355600" y="127000"/>
            <a:ext cx="11480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200" b="1">
                <a:solidFill>
                  <a:srgbClr val="FFFFFF"/>
                </a:solidFill>
              </a:rPr>
              <a:t>O que são divisores?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0058D1F-66FD-C24E-D3BF-32C800B036C7}"/>
              </a:ext>
            </a:extLst>
          </p:cNvPr>
          <p:cNvSpPr txBox="1"/>
          <p:nvPr/>
        </p:nvSpPr>
        <p:spPr>
          <a:xfrm>
            <a:off x="406400" y="1219200"/>
            <a:ext cx="1137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>
                <a:solidFill>
                  <a:srgbClr val="1C2034"/>
                </a:solidFill>
              </a:rPr>
              <a:t>Os divisores de um número são todos os números naturais que o dividem exatamente (resto = 0).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D4CAD8F-09B6-0C91-18D4-5CCED8B3D8E2}"/>
              </a:ext>
            </a:extLst>
          </p:cNvPr>
          <p:cNvSpPr/>
          <p:nvPr/>
        </p:nvSpPr>
        <p:spPr>
          <a:xfrm>
            <a:off x="406400" y="1955800"/>
            <a:ext cx="11379200" cy="736600"/>
          </a:xfrm>
          <a:prstGeom prst="rect">
            <a:avLst/>
          </a:prstGeom>
          <a:solidFill>
            <a:srgbClr val="F0F6FF"/>
          </a:solidFill>
          <a:ln w="25400">
            <a:solidFill>
              <a:srgbClr val="143C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84B8681-7D75-82DF-B1D0-CE598D39D6AA}"/>
              </a:ext>
            </a:extLst>
          </p:cNvPr>
          <p:cNvSpPr txBox="1"/>
          <p:nvPr/>
        </p:nvSpPr>
        <p:spPr>
          <a:xfrm>
            <a:off x="609600" y="2006600"/>
            <a:ext cx="10972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0A1E5A"/>
                </a:solidFill>
              </a:rPr>
              <a:t>Regra: Se resto = 0 → o número é divisor.  Se resto ≠ 0 → não é divisor.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61C5519-FAA8-F04C-6CBC-482D1F89DC5F}"/>
              </a:ext>
            </a:extLst>
          </p:cNvPr>
          <p:cNvSpPr/>
          <p:nvPr/>
        </p:nvSpPr>
        <p:spPr>
          <a:xfrm>
            <a:off x="406400" y="2794000"/>
            <a:ext cx="11379200" cy="863600"/>
          </a:xfrm>
          <a:prstGeom prst="rect">
            <a:avLst/>
          </a:prstGeom>
          <a:solidFill>
            <a:srgbClr val="FFFCDA"/>
          </a:solidFill>
          <a:ln w="25400">
            <a:solidFill>
              <a:srgbClr val="9B6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CBA9BCD-5DBF-1A57-61E0-FFE5E2F452B9}"/>
              </a:ext>
            </a:extLst>
          </p:cNvPr>
          <p:cNvSpPr txBox="1"/>
          <p:nvPr/>
        </p:nvSpPr>
        <p:spPr>
          <a:xfrm>
            <a:off x="609600" y="2844800"/>
            <a:ext cx="10972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b="1">
                <a:solidFill>
                  <a:srgbClr val="9B6E00"/>
                </a:solidFill>
              </a:rPr>
              <a:t>★  Os divisores de qualquer número natural são FINITOS!  (os múltiplos são infinitos)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752060B-32BC-69A3-BFC5-316F56EF6E29}"/>
              </a:ext>
            </a:extLst>
          </p:cNvPr>
          <p:cNvSpPr/>
          <p:nvPr/>
        </p:nvSpPr>
        <p:spPr>
          <a:xfrm>
            <a:off x="406400" y="3759200"/>
            <a:ext cx="11379200" cy="762000"/>
          </a:xfrm>
          <a:prstGeom prst="rect">
            <a:avLst/>
          </a:prstGeom>
          <a:solidFill>
            <a:srgbClr val="FFEEEE"/>
          </a:solidFill>
          <a:ln w="25400">
            <a:solidFill>
              <a:srgbClr val="AA16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508EF3B-223B-89C8-5DED-DEF2F5CABC46}"/>
              </a:ext>
            </a:extLst>
          </p:cNvPr>
          <p:cNvSpPr txBox="1"/>
          <p:nvPr/>
        </p:nvSpPr>
        <p:spPr>
          <a:xfrm>
            <a:off x="609600" y="3810000"/>
            <a:ext cx="10972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700" b="1">
                <a:solidFill>
                  <a:srgbClr val="AA1616"/>
                </a:solidFill>
              </a:rPr>
              <a:t>EXCEÇÃO: O número 0 possui INFINITOS divisores — qualquer número divide 0 com resto zero!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DEF68D6-39CD-4F56-1957-F609262C0CBE}"/>
              </a:ext>
            </a:extLst>
          </p:cNvPr>
          <p:cNvSpPr txBox="1"/>
          <p:nvPr/>
        </p:nvSpPr>
        <p:spPr>
          <a:xfrm>
            <a:off x="406400" y="4622800"/>
            <a:ext cx="584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>
                <a:solidFill>
                  <a:srgbClr val="1C2034"/>
                </a:solidFill>
              </a:rPr>
              <a:t>• 1 é divisor de todos os números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94441D7-949C-C563-502C-AB86E0F9913E}"/>
              </a:ext>
            </a:extLst>
          </p:cNvPr>
          <p:cNvSpPr txBox="1"/>
          <p:nvPr/>
        </p:nvSpPr>
        <p:spPr>
          <a:xfrm>
            <a:off x="6375400" y="4622800"/>
            <a:ext cx="546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>
                <a:solidFill>
                  <a:srgbClr val="1C2034"/>
                </a:solidFill>
              </a:rPr>
              <a:t>• Todo número é divisor de si mesmo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43553E9-78DE-930D-13FB-5FA220BC1CF0}"/>
              </a:ext>
            </a:extLst>
          </p:cNvPr>
          <p:cNvSpPr txBox="1"/>
          <p:nvPr/>
        </p:nvSpPr>
        <p:spPr>
          <a:xfrm>
            <a:off x="406400" y="5257800"/>
            <a:ext cx="1137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>
                <a:solidFill>
                  <a:srgbClr val="166E2A"/>
                </a:solidFill>
              </a:rPr>
              <a:t>• Um número com apenas 2 divisores (1 e ele mesmo) chama-se NÚMERO PRIMO</a:t>
            </a:r>
          </a:p>
        </p:txBody>
      </p:sp>
    </p:spTree>
    <p:extLst>
      <p:ext uri="{BB962C8B-B14F-4D97-AF65-F5344CB8AC3E}">
        <p14:creationId xmlns:p14="http://schemas.microsoft.com/office/powerpoint/2010/main" val="3761864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6CEA09E-5D9F-047F-E1F7-48BDA593C39E}"/>
              </a:ext>
            </a:extLst>
          </p:cNvPr>
          <p:cNvSpPr txBox="1"/>
          <p:nvPr/>
        </p:nvSpPr>
        <p:spPr>
          <a:xfrm>
            <a:off x="482600" y="228600"/>
            <a:ext cx="1016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8800" b="1">
                <a:solidFill>
                  <a:srgbClr val="C8D7F5"/>
                </a:solidFill>
              </a:rPr>
              <a:t>π</a:t>
            </a:r>
            <a:endParaRPr lang="pt-BR" sz="8800" b="1">
              <a:solidFill>
                <a:srgbClr val="C8D7F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D931D0A-0C63-2435-E0B5-5A1EB799C79A}"/>
              </a:ext>
            </a:extLst>
          </p:cNvPr>
          <p:cNvSpPr txBox="1"/>
          <p:nvPr/>
        </p:nvSpPr>
        <p:spPr>
          <a:xfrm>
            <a:off x="10820400" y="177800"/>
            <a:ext cx="1016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8000" b="1">
                <a:solidFill>
                  <a:srgbClr val="C8D7F5"/>
                </a:solidFill>
              </a:rPr>
              <a:t>∑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65BF65D-2885-DE89-7175-6C27D39EE625}"/>
              </a:ext>
            </a:extLst>
          </p:cNvPr>
          <p:cNvSpPr txBox="1"/>
          <p:nvPr/>
        </p:nvSpPr>
        <p:spPr>
          <a:xfrm>
            <a:off x="279400" y="4889500"/>
            <a:ext cx="1016000" cy="12311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7400" b="1">
                <a:solidFill>
                  <a:srgbClr val="C8D7F5"/>
                </a:solidFill>
              </a:rPr>
              <a:t>√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B2A0790-89CE-773A-2A8F-0C6736EC1BD3}"/>
              </a:ext>
            </a:extLst>
          </p:cNvPr>
          <p:cNvSpPr txBox="1"/>
          <p:nvPr/>
        </p:nvSpPr>
        <p:spPr>
          <a:xfrm>
            <a:off x="11023600" y="5270500"/>
            <a:ext cx="1016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800" b="1">
                <a:solidFill>
                  <a:srgbClr val="C8D7F5"/>
                </a:solidFill>
              </a:rPr>
              <a:t>∞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535B27A-8F88-D99A-BD25-7A5C434C7253}"/>
              </a:ext>
            </a:extLst>
          </p:cNvPr>
          <p:cNvSpPr txBox="1"/>
          <p:nvPr/>
        </p:nvSpPr>
        <p:spPr>
          <a:xfrm>
            <a:off x="5715000" y="101600"/>
            <a:ext cx="1016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800" b="1">
                <a:solidFill>
                  <a:srgbClr val="C8D7F5"/>
                </a:solidFill>
              </a:rPr>
              <a:t>÷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7E3BC37-D398-90E1-BE71-C64623CE261F}"/>
              </a:ext>
            </a:extLst>
          </p:cNvPr>
          <p:cNvSpPr txBox="1"/>
          <p:nvPr/>
        </p:nvSpPr>
        <p:spPr>
          <a:xfrm>
            <a:off x="8890000" y="5715000"/>
            <a:ext cx="1016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400" b="1">
                <a:solidFill>
                  <a:srgbClr val="C8D7F5"/>
                </a:solidFill>
              </a:rPr>
              <a:t>×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69B3F46-95AA-7D6C-2246-1FAD7201996F}"/>
              </a:ext>
            </a:extLst>
          </p:cNvPr>
          <p:cNvSpPr txBox="1"/>
          <p:nvPr/>
        </p:nvSpPr>
        <p:spPr>
          <a:xfrm>
            <a:off x="1879600" y="5588000"/>
            <a:ext cx="101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400" b="1">
                <a:solidFill>
                  <a:srgbClr val="C8D7F5"/>
                </a:solidFill>
              </a:rPr>
              <a:t>²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277047E-0523-1DFC-BC11-73FAB186A6DD}"/>
              </a:ext>
            </a:extLst>
          </p:cNvPr>
          <p:cNvSpPr txBox="1"/>
          <p:nvPr/>
        </p:nvSpPr>
        <p:spPr>
          <a:xfrm>
            <a:off x="1066800" y="2349500"/>
            <a:ext cx="1016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6200" b="1">
                <a:solidFill>
                  <a:srgbClr val="C8D7F5"/>
                </a:solidFill>
              </a:rPr>
              <a:t>Δ</a:t>
            </a:r>
            <a:endParaRPr lang="pt-BR" sz="6200" b="1">
              <a:solidFill>
                <a:srgbClr val="C8D7F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D130DE3-DB2A-E850-C5A8-094F99C6A2E5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A1E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916D07E-298A-C492-EF41-2A49D5CE1733}"/>
              </a:ext>
            </a:extLst>
          </p:cNvPr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963165-39EE-9373-DFD8-CE09A4152365}"/>
              </a:ext>
            </a:extLst>
          </p:cNvPr>
          <p:cNvSpPr txBox="1"/>
          <p:nvPr/>
        </p:nvSpPr>
        <p:spPr>
          <a:xfrm>
            <a:off x="355600" y="127000"/>
            <a:ext cx="11480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200" b="1">
                <a:solidFill>
                  <a:srgbClr val="FFFFFF"/>
                </a:solidFill>
              </a:rPr>
              <a:t>Tabela de Divisores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1169CAE-9D48-32CC-3BD4-CBE878BE82A2}"/>
              </a:ext>
            </a:extLst>
          </p:cNvPr>
          <p:cNvSpPr/>
          <p:nvPr/>
        </p:nvSpPr>
        <p:spPr>
          <a:xfrm>
            <a:off x="406400" y="1117600"/>
            <a:ext cx="2667000" cy="533400"/>
          </a:xfrm>
          <a:prstGeom prst="rect">
            <a:avLst/>
          </a:prstGeom>
          <a:solidFill>
            <a:srgbClr val="143C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78FE637-63CA-0B75-8247-DEF6E4A4C1CE}"/>
              </a:ext>
            </a:extLst>
          </p:cNvPr>
          <p:cNvSpPr txBox="1"/>
          <p:nvPr/>
        </p:nvSpPr>
        <p:spPr>
          <a:xfrm>
            <a:off x="406400" y="11176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 b="1">
                <a:solidFill>
                  <a:srgbClr val="FFFFFF"/>
                </a:solidFill>
              </a:rPr>
              <a:t>Número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D21369A-AFF5-7E36-D26A-C3560A968083}"/>
              </a:ext>
            </a:extLst>
          </p:cNvPr>
          <p:cNvSpPr/>
          <p:nvPr/>
        </p:nvSpPr>
        <p:spPr>
          <a:xfrm>
            <a:off x="3136900" y="1117600"/>
            <a:ext cx="6223000" cy="533400"/>
          </a:xfrm>
          <a:prstGeom prst="rect">
            <a:avLst/>
          </a:prstGeom>
          <a:solidFill>
            <a:srgbClr val="143C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FBF8BFA-AFD6-F6F1-E06D-C904AAF0D691}"/>
              </a:ext>
            </a:extLst>
          </p:cNvPr>
          <p:cNvSpPr txBox="1"/>
          <p:nvPr/>
        </p:nvSpPr>
        <p:spPr>
          <a:xfrm>
            <a:off x="3136900" y="1117600"/>
            <a:ext cx="622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 b="1">
                <a:solidFill>
                  <a:srgbClr val="FFFFFF"/>
                </a:solidFill>
              </a:rPr>
              <a:t>Divisores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3E357AD-7969-F0E6-FD9F-111A79107B31}"/>
              </a:ext>
            </a:extLst>
          </p:cNvPr>
          <p:cNvSpPr/>
          <p:nvPr/>
        </p:nvSpPr>
        <p:spPr>
          <a:xfrm>
            <a:off x="9423400" y="1117600"/>
            <a:ext cx="2667000" cy="533400"/>
          </a:xfrm>
          <a:prstGeom prst="rect">
            <a:avLst/>
          </a:prstGeom>
          <a:solidFill>
            <a:srgbClr val="143C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AB1B251-4717-30DA-3065-42EC5F2B2435}"/>
              </a:ext>
            </a:extLst>
          </p:cNvPr>
          <p:cNvSpPr txBox="1"/>
          <p:nvPr/>
        </p:nvSpPr>
        <p:spPr>
          <a:xfrm>
            <a:off x="9423400" y="11176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 b="1">
                <a:solidFill>
                  <a:srgbClr val="FFFFFF"/>
                </a:solidFill>
              </a:rPr>
              <a:t>Quantidade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E3EDCBC-7B66-6516-5474-B9D7608764F4}"/>
              </a:ext>
            </a:extLst>
          </p:cNvPr>
          <p:cNvSpPr/>
          <p:nvPr/>
        </p:nvSpPr>
        <p:spPr>
          <a:xfrm>
            <a:off x="406400" y="1651000"/>
            <a:ext cx="2667000" cy="533400"/>
          </a:xfrm>
          <a:prstGeom prst="rect">
            <a:avLst/>
          </a:prstGeom>
          <a:solidFill>
            <a:srgbClr val="F2F8FF"/>
          </a:solidFill>
          <a:ln w="12700">
            <a:solidFill>
              <a:srgbClr val="C3D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DB5B53B-6D21-8464-6252-491041AF7869}"/>
              </a:ext>
            </a:extLst>
          </p:cNvPr>
          <p:cNvSpPr txBox="1"/>
          <p:nvPr/>
        </p:nvSpPr>
        <p:spPr>
          <a:xfrm>
            <a:off x="406400" y="16510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600" b="1">
                <a:solidFill>
                  <a:srgbClr val="0A1E5A"/>
                </a:solidFill>
              </a:rPr>
              <a:t>12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4BAB1DA-B60F-CA67-E25E-877B172C9389}"/>
              </a:ext>
            </a:extLst>
          </p:cNvPr>
          <p:cNvSpPr/>
          <p:nvPr/>
        </p:nvSpPr>
        <p:spPr>
          <a:xfrm>
            <a:off x="3136900" y="1651000"/>
            <a:ext cx="6223000" cy="533400"/>
          </a:xfrm>
          <a:prstGeom prst="rect">
            <a:avLst/>
          </a:prstGeom>
          <a:solidFill>
            <a:srgbClr val="F2F8FF"/>
          </a:solidFill>
          <a:ln w="12700">
            <a:solidFill>
              <a:srgbClr val="C3D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260EC89-51DB-3BB3-9E25-21E348CB689E}"/>
              </a:ext>
            </a:extLst>
          </p:cNvPr>
          <p:cNvSpPr txBox="1"/>
          <p:nvPr/>
        </p:nvSpPr>
        <p:spPr>
          <a:xfrm>
            <a:off x="3136900" y="1651000"/>
            <a:ext cx="622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500">
                <a:solidFill>
                  <a:srgbClr val="1C2034"/>
                </a:solidFill>
              </a:rPr>
              <a:t>1,  2,  3,  4,  6,  12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1CA51D0-91C4-C3C4-C11F-819C3014B399}"/>
              </a:ext>
            </a:extLst>
          </p:cNvPr>
          <p:cNvSpPr/>
          <p:nvPr/>
        </p:nvSpPr>
        <p:spPr>
          <a:xfrm>
            <a:off x="9423400" y="1651000"/>
            <a:ext cx="2667000" cy="533400"/>
          </a:xfrm>
          <a:prstGeom prst="rect">
            <a:avLst/>
          </a:prstGeom>
          <a:solidFill>
            <a:srgbClr val="F2F8FF"/>
          </a:solidFill>
          <a:ln w="12700">
            <a:solidFill>
              <a:srgbClr val="C3D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47E4B17-F2E0-AB20-AC67-9C3A6AEE6B85}"/>
              </a:ext>
            </a:extLst>
          </p:cNvPr>
          <p:cNvSpPr txBox="1"/>
          <p:nvPr/>
        </p:nvSpPr>
        <p:spPr>
          <a:xfrm>
            <a:off x="9423400" y="16510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 b="1">
                <a:solidFill>
                  <a:srgbClr val="166E2A"/>
                </a:solidFill>
              </a:rPr>
              <a:t>6 divisores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C7C0D88-54A7-45AD-15B8-D2FE9182DF17}"/>
              </a:ext>
            </a:extLst>
          </p:cNvPr>
          <p:cNvSpPr/>
          <p:nvPr/>
        </p:nvSpPr>
        <p:spPr>
          <a:xfrm>
            <a:off x="406400" y="2184400"/>
            <a:ext cx="2667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C3BD8E9-7088-508C-17AF-48D8D6D75A0E}"/>
              </a:ext>
            </a:extLst>
          </p:cNvPr>
          <p:cNvSpPr txBox="1"/>
          <p:nvPr/>
        </p:nvSpPr>
        <p:spPr>
          <a:xfrm>
            <a:off x="406400" y="21844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600" b="1">
                <a:solidFill>
                  <a:srgbClr val="0A1E5A"/>
                </a:solidFill>
              </a:rPr>
              <a:t>18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08E17DA2-519E-0ADD-4BCC-D0A8CA1718E8}"/>
              </a:ext>
            </a:extLst>
          </p:cNvPr>
          <p:cNvSpPr/>
          <p:nvPr/>
        </p:nvSpPr>
        <p:spPr>
          <a:xfrm>
            <a:off x="3136900" y="2184400"/>
            <a:ext cx="6223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F685E3A-08B5-6569-ECFA-86EF2604FD06}"/>
              </a:ext>
            </a:extLst>
          </p:cNvPr>
          <p:cNvSpPr txBox="1"/>
          <p:nvPr/>
        </p:nvSpPr>
        <p:spPr>
          <a:xfrm>
            <a:off x="3136900" y="2184400"/>
            <a:ext cx="622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500">
                <a:solidFill>
                  <a:srgbClr val="1C2034"/>
                </a:solidFill>
              </a:rPr>
              <a:t>1,  2,  3,  6,  9,  18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E6E4E59-9696-BD00-E47E-E54B472C9657}"/>
              </a:ext>
            </a:extLst>
          </p:cNvPr>
          <p:cNvSpPr/>
          <p:nvPr/>
        </p:nvSpPr>
        <p:spPr>
          <a:xfrm>
            <a:off x="9423400" y="2184400"/>
            <a:ext cx="2667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3E98A7F-D06C-2252-021E-56394F571E23}"/>
              </a:ext>
            </a:extLst>
          </p:cNvPr>
          <p:cNvSpPr txBox="1"/>
          <p:nvPr/>
        </p:nvSpPr>
        <p:spPr>
          <a:xfrm>
            <a:off x="9423400" y="21844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 b="1">
                <a:solidFill>
                  <a:srgbClr val="166E2A"/>
                </a:solidFill>
              </a:rPr>
              <a:t>6 divisores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3A5DBE0E-45FA-5554-D00E-DAB08B4D8774}"/>
              </a:ext>
            </a:extLst>
          </p:cNvPr>
          <p:cNvSpPr/>
          <p:nvPr/>
        </p:nvSpPr>
        <p:spPr>
          <a:xfrm>
            <a:off x="406400" y="2717800"/>
            <a:ext cx="2667000" cy="533400"/>
          </a:xfrm>
          <a:prstGeom prst="rect">
            <a:avLst/>
          </a:prstGeom>
          <a:solidFill>
            <a:srgbClr val="F2F8FF"/>
          </a:solidFill>
          <a:ln w="12700">
            <a:solidFill>
              <a:srgbClr val="C3D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A16ED25-A280-A312-3C39-6DB2EBBF6444}"/>
              </a:ext>
            </a:extLst>
          </p:cNvPr>
          <p:cNvSpPr txBox="1"/>
          <p:nvPr/>
        </p:nvSpPr>
        <p:spPr>
          <a:xfrm>
            <a:off x="406400" y="27178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600" b="1">
                <a:solidFill>
                  <a:srgbClr val="0A1E5A"/>
                </a:solidFill>
              </a:rPr>
              <a:t>7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0C2EB96-AA84-5727-622B-73B4FAEC8293}"/>
              </a:ext>
            </a:extLst>
          </p:cNvPr>
          <p:cNvSpPr/>
          <p:nvPr/>
        </p:nvSpPr>
        <p:spPr>
          <a:xfrm>
            <a:off x="3136900" y="2717800"/>
            <a:ext cx="6223000" cy="533400"/>
          </a:xfrm>
          <a:prstGeom prst="rect">
            <a:avLst/>
          </a:prstGeom>
          <a:solidFill>
            <a:srgbClr val="F2F8FF"/>
          </a:solidFill>
          <a:ln w="12700">
            <a:solidFill>
              <a:srgbClr val="C3D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3822BBB-775E-B298-939B-5E01725915D7}"/>
              </a:ext>
            </a:extLst>
          </p:cNvPr>
          <p:cNvSpPr txBox="1"/>
          <p:nvPr/>
        </p:nvSpPr>
        <p:spPr>
          <a:xfrm>
            <a:off x="3136900" y="2717800"/>
            <a:ext cx="622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500">
                <a:solidFill>
                  <a:srgbClr val="1C2034"/>
                </a:solidFill>
              </a:rPr>
              <a:t>1,  7   ← número primo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A2ACE47-CC8F-5C83-3BA0-978832C38B46}"/>
              </a:ext>
            </a:extLst>
          </p:cNvPr>
          <p:cNvSpPr/>
          <p:nvPr/>
        </p:nvSpPr>
        <p:spPr>
          <a:xfrm>
            <a:off x="9423400" y="2717800"/>
            <a:ext cx="2667000" cy="533400"/>
          </a:xfrm>
          <a:prstGeom prst="rect">
            <a:avLst/>
          </a:prstGeom>
          <a:solidFill>
            <a:srgbClr val="F2F8FF"/>
          </a:solidFill>
          <a:ln w="12700">
            <a:solidFill>
              <a:srgbClr val="C3D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CB074AA0-A827-AF18-AC5D-C779FD5DF5F0}"/>
              </a:ext>
            </a:extLst>
          </p:cNvPr>
          <p:cNvSpPr txBox="1"/>
          <p:nvPr/>
        </p:nvSpPr>
        <p:spPr>
          <a:xfrm>
            <a:off x="9423400" y="27178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 b="1">
                <a:solidFill>
                  <a:srgbClr val="166E2A"/>
                </a:solidFill>
              </a:rPr>
              <a:t>2 divisores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C3F8F9A0-40F2-8EEB-889C-E70EC81725BF}"/>
              </a:ext>
            </a:extLst>
          </p:cNvPr>
          <p:cNvSpPr/>
          <p:nvPr/>
        </p:nvSpPr>
        <p:spPr>
          <a:xfrm>
            <a:off x="406400" y="3251200"/>
            <a:ext cx="2667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6D2A18B-E44A-AB1D-9B3E-CF760B203BB7}"/>
              </a:ext>
            </a:extLst>
          </p:cNvPr>
          <p:cNvSpPr txBox="1"/>
          <p:nvPr/>
        </p:nvSpPr>
        <p:spPr>
          <a:xfrm>
            <a:off x="406400" y="32512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600" b="1">
                <a:solidFill>
                  <a:srgbClr val="0A1E5A"/>
                </a:solidFill>
              </a:rPr>
              <a:t>20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64B10172-E069-83F0-FDE9-263EAFAEAFED}"/>
              </a:ext>
            </a:extLst>
          </p:cNvPr>
          <p:cNvSpPr/>
          <p:nvPr/>
        </p:nvSpPr>
        <p:spPr>
          <a:xfrm>
            <a:off x="3136900" y="3251200"/>
            <a:ext cx="6223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37C6139-23C6-1C59-29FE-A17F6CCE8F0B}"/>
              </a:ext>
            </a:extLst>
          </p:cNvPr>
          <p:cNvSpPr txBox="1"/>
          <p:nvPr/>
        </p:nvSpPr>
        <p:spPr>
          <a:xfrm>
            <a:off x="3136900" y="3251200"/>
            <a:ext cx="622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500">
                <a:solidFill>
                  <a:srgbClr val="1C2034"/>
                </a:solidFill>
              </a:rPr>
              <a:t>1,  2,  4,  5,  10,  20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1F8C2579-5206-F529-5943-8A047F833DFF}"/>
              </a:ext>
            </a:extLst>
          </p:cNvPr>
          <p:cNvSpPr/>
          <p:nvPr/>
        </p:nvSpPr>
        <p:spPr>
          <a:xfrm>
            <a:off x="9423400" y="3251200"/>
            <a:ext cx="2667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D9CAC-6C76-4F5A-DAC5-BF1438BBB834}"/>
              </a:ext>
            </a:extLst>
          </p:cNvPr>
          <p:cNvSpPr txBox="1"/>
          <p:nvPr/>
        </p:nvSpPr>
        <p:spPr>
          <a:xfrm>
            <a:off x="9423400" y="32512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 b="1">
                <a:solidFill>
                  <a:srgbClr val="166E2A"/>
                </a:solidFill>
              </a:rPr>
              <a:t>6 divisores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4DB0812-7A6B-B6C8-2F19-4252558742A4}"/>
              </a:ext>
            </a:extLst>
          </p:cNvPr>
          <p:cNvSpPr txBox="1"/>
          <p:nvPr/>
        </p:nvSpPr>
        <p:spPr>
          <a:xfrm>
            <a:off x="406400" y="3873500"/>
            <a:ext cx="1137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>
                <a:solidFill>
                  <a:srgbClr val="5F697D"/>
                </a:solidFill>
              </a:rPr>
              <a:t>Observação: quanto maior o número, maior pode ser a quantidade de divisores.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06A06365-9D4B-6A09-26F2-180CC8D9B298}"/>
              </a:ext>
            </a:extLst>
          </p:cNvPr>
          <p:cNvSpPr/>
          <p:nvPr/>
        </p:nvSpPr>
        <p:spPr>
          <a:xfrm>
            <a:off x="406400" y="4495800"/>
            <a:ext cx="11379200" cy="533400"/>
          </a:xfrm>
          <a:prstGeom prst="rect">
            <a:avLst/>
          </a:prstGeom>
          <a:solidFill>
            <a:srgbClr val="143C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3A8F7170-7D0D-95D0-55E7-68BE477D297E}"/>
              </a:ext>
            </a:extLst>
          </p:cNvPr>
          <p:cNvSpPr txBox="1"/>
          <p:nvPr/>
        </p:nvSpPr>
        <p:spPr>
          <a:xfrm>
            <a:off x="533400" y="4533900"/>
            <a:ext cx="11125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 b="1">
                <a:solidFill>
                  <a:srgbClr val="FFFFFF"/>
                </a:solidFill>
              </a:rPr>
              <a:t>Como saber se um número é divisor?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616B88DE-36F8-3A89-3E31-BB37EE82C28A}"/>
              </a:ext>
            </a:extLst>
          </p:cNvPr>
          <p:cNvSpPr/>
          <p:nvPr/>
        </p:nvSpPr>
        <p:spPr>
          <a:xfrm>
            <a:off x="406400" y="5105400"/>
            <a:ext cx="11379200" cy="736600"/>
          </a:xfrm>
          <a:prstGeom prst="rect">
            <a:avLst/>
          </a:prstGeom>
          <a:solidFill>
            <a:srgbClr val="F0F6FF"/>
          </a:solidFill>
          <a:ln w="25400">
            <a:solidFill>
              <a:srgbClr val="143C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8BFE8469-3979-3A1F-39FB-5E1989E216C0}"/>
              </a:ext>
            </a:extLst>
          </p:cNvPr>
          <p:cNvSpPr txBox="1"/>
          <p:nvPr/>
        </p:nvSpPr>
        <p:spPr>
          <a:xfrm>
            <a:off x="609600" y="5156200"/>
            <a:ext cx="10972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0A1E5A"/>
                </a:solidFill>
              </a:rPr>
              <a:t>Faça a divisão. Se o RESTO for ZERO, é divisor. Exemplo:  42 ÷ 6 = 7  (resto 0) → 6 é divisor de 42  ✓</a:t>
            </a:r>
          </a:p>
        </p:txBody>
      </p:sp>
    </p:spTree>
    <p:extLst>
      <p:ext uri="{BB962C8B-B14F-4D97-AF65-F5344CB8AC3E}">
        <p14:creationId xmlns:p14="http://schemas.microsoft.com/office/powerpoint/2010/main" val="2993416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CB2DD4B-8E11-8F71-188F-7A5E2272B0A0}"/>
              </a:ext>
            </a:extLst>
          </p:cNvPr>
          <p:cNvSpPr txBox="1"/>
          <p:nvPr/>
        </p:nvSpPr>
        <p:spPr>
          <a:xfrm>
            <a:off x="482600" y="228600"/>
            <a:ext cx="1016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8800" b="1">
                <a:solidFill>
                  <a:srgbClr val="C8D7F5"/>
                </a:solidFill>
              </a:rPr>
              <a:t>π</a:t>
            </a:r>
            <a:endParaRPr lang="pt-BR" sz="8800" b="1">
              <a:solidFill>
                <a:srgbClr val="C8D7F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EBE6813-E1DC-1AB6-110D-F5E04F9BD172}"/>
              </a:ext>
            </a:extLst>
          </p:cNvPr>
          <p:cNvSpPr txBox="1"/>
          <p:nvPr/>
        </p:nvSpPr>
        <p:spPr>
          <a:xfrm>
            <a:off x="10820400" y="177800"/>
            <a:ext cx="1016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8000" b="1">
                <a:solidFill>
                  <a:srgbClr val="C8D7F5"/>
                </a:solidFill>
              </a:rPr>
              <a:t>∑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345F51C-532E-81EF-2DE2-BC415E448FDA}"/>
              </a:ext>
            </a:extLst>
          </p:cNvPr>
          <p:cNvSpPr txBox="1"/>
          <p:nvPr/>
        </p:nvSpPr>
        <p:spPr>
          <a:xfrm>
            <a:off x="279400" y="4889500"/>
            <a:ext cx="1016000" cy="12311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7400" b="1">
                <a:solidFill>
                  <a:srgbClr val="C8D7F5"/>
                </a:solidFill>
              </a:rPr>
              <a:t>√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C21F37B-5FF2-8C0A-CFBC-55FE4E7DE8A3}"/>
              </a:ext>
            </a:extLst>
          </p:cNvPr>
          <p:cNvSpPr txBox="1"/>
          <p:nvPr/>
        </p:nvSpPr>
        <p:spPr>
          <a:xfrm>
            <a:off x="11023600" y="5270500"/>
            <a:ext cx="1016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800" b="1">
                <a:solidFill>
                  <a:srgbClr val="C8D7F5"/>
                </a:solidFill>
              </a:rPr>
              <a:t>∞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F199AEB-3509-F156-84F3-7838AE2031DA}"/>
              </a:ext>
            </a:extLst>
          </p:cNvPr>
          <p:cNvSpPr txBox="1"/>
          <p:nvPr/>
        </p:nvSpPr>
        <p:spPr>
          <a:xfrm>
            <a:off x="5715000" y="101600"/>
            <a:ext cx="1016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800" b="1">
                <a:solidFill>
                  <a:srgbClr val="C8D7F5"/>
                </a:solidFill>
              </a:rPr>
              <a:t>÷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47B717D-92FC-E8A2-BC53-1EACFD4EECC2}"/>
              </a:ext>
            </a:extLst>
          </p:cNvPr>
          <p:cNvSpPr txBox="1"/>
          <p:nvPr/>
        </p:nvSpPr>
        <p:spPr>
          <a:xfrm>
            <a:off x="8890000" y="5715000"/>
            <a:ext cx="1016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400" b="1">
                <a:solidFill>
                  <a:srgbClr val="C8D7F5"/>
                </a:solidFill>
              </a:rPr>
              <a:t>×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81639A7-6488-1162-7BB9-F03ADB18F7C2}"/>
              </a:ext>
            </a:extLst>
          </p:cNvPr>
          <p:cNvSpPr txBox="1"/>
          <p:nvPr/>
        </p:nvSpPr>
        <p:spPr>
          <a:xfrm>
            <a:off x="1879600" y="5588000"/>
            <a:ext cx="101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400" b="1">
                <a:solidFill>
                  <a:srgbClr val="C8D7F5"/>
                </a:solidFill>
              </a:rPr>
              <a:t>²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6871B70-C0F3-9168-5AFB-72EE46444AEE}"/>
              </a:ext>
            </a:extLst>
          </p:cNvPr>
          <p:cNvSpPr txBox="1"/>
          <p:nvPr/>
        </p:nvSpPr>
        <p:spPr>
          <a:xfrm>
            <a:off x="1066800" y="2349500"/>
            <a:ext cx="1016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6200" b="1">
                <a:solidFill>
                  <a:srgbClr val="C8D7F5"/>
                </a:solidFill>
              </a:rPr>
              <a:t>Δ</a:t>
            </a:r>
            <a:endParaRPr lang="pt-BR" sz="6200" b="1">
              <a:solidFill>
                <a:srgbClr val="C8D7F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5C714D0-2F50-4B89-6C14-2F3A4F32A715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0A1E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B211531-3316-1FDB-D478-8B4C9BBA0578}"/>
              </a:ext>
            </a:extLst>
          </p:cNvPr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6A236B9-2BA6-0063-4730-A1DEE11020AE}"/>
              </a:ext>
            </a:extLst>
          </p:cNvPr>
          <p:cNvSpPr txBox="1"/>
          <p:nvPr/>
        </p:nvSpPr>
        <p:spPr>
          <a:xfrm>
            <a:off x="355600" y="127000"/>
            <a:ext cx="11480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3200" b="1">
                <a:solidFill>
                  <a:srgbClr val="FFFFFF"/>
                </a:solidFill>
              </a:rPr>
              <a:t>Como encontrar os divisores de 24?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08FF305-DB53-F8A6-FE32-3CFB9452F912}"/>
              </a:ext>
            </a:extLst>
          </p:cNvPr>
          <p:cNvSpPr txBox="1"/>
          <p:nvPr/>
        </p:nvSpPr>
        <p:spPr>
          <a:xfrm>
            <a:off x="406400" y="1143000"/>
            <a:ext cx="1137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1C2034"/>
                </a:solidFill>
              </a:rPr>
              <a:t>Teste divisões por 1, 2, 3... até a metade do número (12). Anote os que derem resto zero: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70DE217-B2F7-9020-B748-3B510CCF972D}"/>
              </a:ext>
            </a:extLst>
          </p:cNvPr>
          <p:cNvSpPr/>
          <p:nvPr/>
        </p:nvSpPr>
        <p:spPr>
          <a:xfrm>
            <a:off x="406400" y="1727200"/>
            <a:ext cx="6350000" cy="457200"/>
          </a:xfrm>
          <a:prstGeom prst="rect">
            <a:avLst/>
          </a:prstGeom>
          <a:solidFill>
            <a:srgbClr val="F0F8F2"/>
          </a:solidFill>
          <a:ln w="12700">
            <a:solidFill>
              <a:srgbClr val="BED2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A3CF052-ADCC-EAB8-3A47-6C1F7E64643D}"/>
              </a:ext>
            </a:extLst>
          </p:cNvPr>
          <p:cNvSpPr txBox="1"/>
          <p:nvPr/>
        </p:nvSpPr>
        <p:spPr>
          <a:xfrm>
            <a:off x="508000" y="1727200"/>
            <a:ext cx="6273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>
                <a:solidFill>
                  <a:srgbClr val="1C2034"/>
                </a:solidFill>
              </a:rPr>
              <a:t>24 ÷ 1 = 24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FF17F50-986C-834D-C886-173074A995B5}"/>
              </a:ext>
            </a:extLst>
          </p:cNvPr>
          <p:cNvSpPr/>
          <p:nvPr/>
        </p:nvSpPr>
        <p:spPr>
          <a:xfrm>
            <a:off x="6832600" y="1727200"/>
            <a:ext cx="2667000" cy="457200"/>
          </a:xfrm>
          <a:prstGeom prst="rect">
            <a:avLst/>
          </a:prstGeom>
          <a:solidFill>
            <a:srgbClr val="F0F8F2"/>
          </a:solidFill>
          <a:ln w="12700">
            <a:solidFill>
              <a:srgbClr val="BED2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DCAEBF5-97D5-7A39-C7DD-BE8C4EF5E86C}"/>
              </a:ext>
            </a:extLst>
          </p:cNvPr>
          <p:cNvSpPr txBox="1"/>
          <p:nvPr/>
        </p:nvSpPr>
        <p:spPr>
          <a:xfrm>
            <a:off x="6883400" y="17272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 b="1">
                <a:solidFill>
                  <a:srgbClr val="166E2A"/>
                </a:solidFill>
              </a:rPr>
              <a:t>resto 0  ✓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F441902-7339-8BA4-E2EA-39673DC8D412}"/>
              </a:ext>
            </a:extLst>
          </p:cNvPr>
          <p:cNvSpPr/>
          <p:nvPr/>
        </p:nvSpPr>
        <p:spPr>
          <a:xfrm>
            <a:off x="406400" y="2235200"/>
            <a:ext cx="6350000" cy="457200"/>
          </a:xfrm>
          <a:prstGeom prst="rect">
            <a:avLst/>
          </a:prstGeom>
          <a:solidFill>
            <a:srgbClr val="F0F8F2"/>
          </a:solidFill>
          <a:ln w="12700">
            <a:solidFill>
              <a:srgbClr val="BED2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EFB2443-D303-222B-9571-617E762FE63B}"/>
              </a:ext>
            </a:extLst>
          </p:cNvPr>
          <p:cNvSpPr txBox="1"/>
          <p:nvPr/>
        </p:nvSpPr>
        <p:spPr>
          <a:xfrm>
            <a:off x="508000" y="2235200"/>
            <a:ext cx="6273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>
                <a:solidFill>
                  <a:srgbClr val="1C2034"/>
                </a:solidFill>
              </a:rPr>
              <a:t>24 ÷ 2 = 12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3AB9E2B-0BE6-B340-C232-F3350922AE47}"/>
              </a:ext>
            </a:extLst>
          </p:cNvPr>
          <p:cNvSpPr/>
          <p:nvPr/>
        </p:nvSpPr>
        <p:spPr>
          <a:xfrm>
            <a:off x="6832600" y="2235200"/>
            <a:ext cx="2667000" cy="457200"/>
          </a:xfrm>
          <a:prstGeom prst="rect">
            <a:avLst/>
          </a:prstGeom>
          <a:solidFill>
            <a:srgbClr val="F0F8F2"/>
          </a:solidFill>
          <a:ln w="12700">
            <a:solidFill>
              <a:srgbClr val="BED2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10402E1-2A68-A301-BB5F-8B11E8171F60}"/>
              </a:ext>
            </a:extLst>
          </p:cNvPr>
          <p:cNvSpPr txBox="1"/>
          <p:nvPr/>
        </p:nvSpPr>
        <p:spPr>
          <a:xfrm>
            <a:off x="6883400" y="22352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 b="1">
                <a:solidFill>
                  <a:srgbClr val="166E2A"/>
                </a:solidFill>
              </a:rPr>
              <a:t>resto 0  ✓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69CDAB2-E77F-D759-0BC2-7E8CA5EFDFF3}"/>
              </a:ext>
            </a:extLst>
          </p:cNvPr>
          <p:cNvSpPr/>
          <p:nvPr/>
        </p:nvSpPr>
        <p:spPr>
          <a:xfrm>
            <a:off x="406400" y="2743200"/>
            <a:ext cx="6350000" cy="457200"/>
          </a:xfrm>
          <a:prstGeom prst="rect">
            <a:avLst/>
          </a:prstGeom>
          <a:solidFill>
            <a:srgbClr val="F0F8F2"/>
          </a:solidFill>
          <a:ln w="12700">
            <a:solidFill>
              <a:srgbClr val="BED2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048065C-47EE-1BAC-68B2-971B0849F91C}"/>
              </a:ext>
            </a:extLst>
          </p:cNvPr>
          <p:cNvSpPr txBox="1"/>
          <p:nvPr/>
        </p:nvSpPr>
        <p:spPr>
          <a:xfrm>
            <a:off x="508000" y="2743200"/>
            <a:ext cx="6273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>
                <a:solidFill>
                  <a:srgbClr val="1C2034"/>
                </a:solidFill>
              </a:rPr>
              <a:t>24 ÷ 3 = 8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743DA13-CD62-273D-2B87-5F640A4A4BC0}"/>
              </a:ext>
            </a:extLst>
          </p:cNvPr>
          <p:cNvSpPr/>
          <p:nvPr/>
        </p:nvSpPr>
        <p:spPr>
          <a:xfrm>
            <a:off x="6832600" y="2743200"/>
            <a:ext cx="2667000" cy="457200"/>
          </a:xfrm>
          <a:prstGeom prst="rect">
            <a:avLst/>
          </a:prstGeom>
          <a:solidFill>
            <a:srgbClr val="F0F8F2"/>
          </a:solidFill>
          <a:ln w="12700">
            <a:solidFill>
              <a:srgbClr val="BED2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9F015DF-01A0-28BE-66F8-FA6E50B06BF1}"/>
              </a:ext>
            </a:extLst>
          </p:cNvPr>
          <p:cNvSpPr txBox="1"/>
          <p:nvPr/>
        </p:nvSpPr>
        <p:spPr>
          <a:xfrm>
            <a:off x="6883400" y="27432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 b="1">
                <a:solidFill>
                  <a:srgbClr val="166E2A"/>
                </a:solidFill>
              </a:rPr>
              <a:t>resto 0  ✓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56F317B-D14B-5A43-6632-1DC8A9676158}"/>
              </a:ext>
            </a:extLst>
          </p:cNvPr>
          <p:cNvSpPr/>
          <p:nvPr/>
        </p:nvSpPr>
        <p:spPr>
          <a:xfrm>
            <a:off x="406400" y="3251200"/>
            <a:ext cx="6350000" cy="457200"/>
          </a:xfrm>
          <a:prstGeom prst="rect">
            <a:avLst/>
          </a:prstGeom>
          <a:solidFill>
            <a:srgbClr val="F0F8F2"/>
          </a:solidFill>
          <a:ln w="12700">
            <a:solidFill>
              <a:srgbClr val="BED2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3D3469E-8A42-4A0F-231A-40E207588B0C}"/>
              </a:ext>
            </a:extLst>
          </p:cNvPr>
          <p:cNvSpPr txBox="1"/>
          <p:nvPr/>
        </p:nvSpPr>
        <p:spPr>
          <a:xfrm>
            <a:off x="508000" y="3251200"/>
            <a:ext cx="6273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>
                <a:solidFill>
                  <a:srgbClr val="1C2034"/>
                </a:solidFill>
              </a:rPr>
              <a:t>24 ÷ 4 = 6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3FB3147C-4A74-D1D8-FD36-13CE7ADF0D7C}"/>
              </a:ext>
            </a:extLst>
          </p:cNvPr>
          <p:cNvSpPr/>
          <p:nvPr/>
        </p:nvSpPr>
        <p:spPr>
          <a:xfrm>
            <a:off x="6832600" y="3251200"/>
            <a:ext cx="2667000" cy="457200"/>
          </a:xfrm>
          <a:prstGeom prst="rect">
            <a:avLst/>
          </a:prstGeom>
          <a:solidFill>
            <a:srgbClr val="F0F8F2"/>
          </a:solidFill>
          <a:ln w="12700">
            <a:solidFill>
              <a:srgbClr val="BED2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B0EDD1F-B9A5-B781-61F4-AFC8B634C3EF}"/>
              </a:ext>
            </a:extLst>
          </p:cNvPr>
          <p:cNvSpPr txBox="1"/>
          <p:nvPr/>
        </p:nvSpPr>
        <p:spPr>
          <a:xfrm>
            <a:off x="6883400" y="32512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 b="1">
                <a:solidFill>
                  <a:srgbClr val="166E2A"/>
                </a:solidFill>
              </a:rPr>
              <a:t>resto 0  ✓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2DF5C99-54F1-485A-87F6-CFC2DA2EBF2E}"/>
              </a:ext>
            </a:extLst>
          </p:cNvPr>
          <p:cNvSpPr/>
          <p:nvPr/>
        </p:nvSpPr>
        <p:spPr>
          <a:xfrm>
            <a:off x="406400" y="3759200"/>
            <a:ext cx="6350000" cy="457200"/>
          </a:xfrm>
          <a:prstGeom prst="rect">
            <a:avLst/>
          </a:prstGeom>
          <a:solidFill>
            <a:srgbClr val="FFF0F0"/>
          </a:solidFill>
          <a:ln w="12700">
            <a:solidFill>
              <a:srgbClr val="BED2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C849F3F-7DD5-B4AC-7036-995CF097E045}"/>
              </a:ext>
            </a:extLst>
          </p:cNvPr>
          <p:cNvSpPr txBox="1"/>
          <p:nvPr/>
        </p:nvSpPr>
        <p:spPr>
          <a:xfrm>
            <a:off x="508000" y="3759200"/>
            <a:ext cx="6273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>
                <a:solidFill>
                  <a:srgbClr val="1C2034"/>
                </a:solidFill>
              </a:rPr>
              <a:t>24 ÷ 5 = 4,8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806E9FC-FC43-E985-43B0-C91A911438C7}"/>
              </a:ext>
            </a:extLst>
          </p:cNvPr>
          <p:cNvSpPr/>
          <p:nvPr/>
        </p:nvSpPr>
        <p:spPr>
          <a:xfrm>
            <a:off x="6832600" y="3759200"/>
            <a:ext cx="2667000" cy="457200"/>
          </a:xfrm>
          <a:prstGeom prst="rect">
            <a:avLst/>
          </a:prstGeom>
          <a:solidFill>
            <a:srgbClr val="FFF0F0"/>
          </a:solidFill>
          <a:ln w="12700">
            <a:solidFill>
              <a:srgbClr val="BED2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CC85394-B692-8D17-9F35-08B24BF4242B}"/>
              </a:ext>
            </a:extLst>
          </p:cNvPr>
          <p:cNvSpPr txBox="1"/>
          <p:nvPr/>
        </p:nvSpPr>
        <p:spPr>
          <a:xfrm>
            <a:off x="6883400" y="37592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 b="1"/>
              <a:t>resto ≠ 0  ✗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94EAB46F-E472-5C7D-6FA1-3D1BCC0B24AD}"/>
              </a:ext>
            </a:extLst>
          </p:cNvPr>
          <p:cNvSpPr/>
          <p:nvPr/>
        </p:nvSpPr>
        <p:spPr>
          <a:xfrm>
            <a:off x="406400" y="4267200"/>
            <a:ext cx="6350000" cy="457200"/>
          </a:xfrm>
          <a:prstGeom prst="rect">
            <a:avLst/>
          </a:prstGeom>
          <a:solidFill>
            <a:srgbClr val="F0F8F2"/>
          </a:solidFill>
          <a:ln w="12700">
            <a:solidFill>
              <a:srgbClr val="BED2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E2F74B8D-164F-9EE0-7E57-5AD97CAC5CBD}"/>
              </a:ext>
            </a:extLst>
          </p:cNvPr>
          <p:cNvSpPr txBox="1"/>
          <p:nvPr/>
        </p:nvSpPr>
        <p:spPr>
          <a:xfrm>
            <a:off x="508000" y="4267200"/>
            <a:ext cx="6273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>
                <a:solidFill>
                  <a:srgbClr val="1C2034"/>
                </a:solidFill>
              </a:rPr>
              <a:t>24 ÷ 6 = 4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6D1F0DA2-98FA-B443-624E-79FFC319DC38}"/>
              </a:ext>
            </a:extLst>
          </p:cNvPr>
          <p:cNvSpPr/>
          <p:nvPr/>
        </p:nvSpPr>
        <p:spPr>
          <a:xfrm>
            <a:off x="6832600" y="4267200"/>
            <a:ext cx="2667000" cy="457200"/>
          </a:xfrm>
          <a:prstGeom prst="rect">
            <a:avLst/>
          </a:prstGeom>
          <a:solidFill>
            <a:srgbClr val="F0F8F2"/>
          </a:solidFill>
          <a:ln w="12700">
            <a:solidFill>
              <a:srgbClr val="BED2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E4793C94-B8E3-7437-C2E6-723ED0E639D2}"/>
              </a:ext>
            </a:extLst>
          </p:cNvPr>
          <p:cNvSpPr txBox="1"/>
          <p:nvPr/>
        </p:nvSpPr>
        <p:spPr>
          <a:xfrm>
            <a:off x="6883400" y="42672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 b="1">
                <a:solidFill>
                  <a:srgbClr val="166E2A"/>
                </a:solidFill>
              </a:rPr>
              <a:t>resto 0  ✓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A93565F7-655A-DC97-82BD-801C1ED7B13D}"/>
              </a:ext>
            </a:extLst>
          </p:cNvPr>
          <p:cNvSpPr/>
          <p:nvPr/>
        </p:nvSpPr>
        <p:spPr>
          <a:xfrm>
            <a:off x="406400" y="4775200"/>
            <a:ext cx="6350000" cy="457200"/>
          </a:xfrm>
          <a:prstGeom prst="rect">
            <a:avLst/>
          </a:prstGeom>
          <a:solidFill>
            <a:srgbClr val="F0F8F2"/>
          </a:solidFill>
          <a:ln w="12700">
            <a:solidFill>
              <a:srgbClr val="BED2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730F09C3-2D7F-6FF0-A308-315C06684E46}"/>
              </a:ext>
            </a:extLst>
          </p:cNvPr>
          <p:cNvSpPr txBox="1"/>
          <p:nvPr/>
        </p:nvSpPr>
        <p:spPr>
          <a:xfrm>
            <a:off x="508000" y="4775200"/>
            <a:ext cx="6273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>
                <a:solidFill>
                  <a:srgbClr val="1C2034"/>
                </a:solidFill>
              </a:rPr>
              <a:t>24 ÷ 8 = 3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9D867726-AFC0-5EC7-8F43-5B93C49AFC2F}"/>
              </a:ext>
            </a:extLst>
          </p:cNvPr>
          <p:cNvSpPr/>
          <p:nvPr/>
        </p:nvSpPr>
        <p:spPr>
          <a:xfrm>
            <a:off x="6832600" y="4775200"/>
            <a:ext cx="2667000" cy="457200"/>
          </a:xfrm>
          <a:prstGeom prst="rect">
            <a:avLst/>
          </a:prstGeom>
          <a:solidFill>
            <a:srgbClr val="F0F8F2"/>
          </a:solidFill>
          <a:ln w="12700">
            <a:solidFill>
              <a:srgbClr val="BED2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3BA13DE3-C1CF-EE2A-5112-55E95506B2F6}"/>
              </a:ext>
            </a:extLst>
          </p:cNvPr>
          <p:cNvSpPr txBox="1"/>
          <p:nvPr/>
        </p:nvSpPr>
        <p:spPr>
          <a:xfrm>
            <a:off x="6883400" y="47752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600" b="1">
                <a:solidFill>
                  <a:srgbClr val="166E2A"/>
                </a:solidFill>
              </a:rPr>
              <a:t>resto 0  ✓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08F8B021-4392-4F91-9E63-8E12E0D4312F}"/>
              </a:ext>
            </a:extLst>
          </p:cNvPr>
          <p:cNvSpPr/>
          <p:nvPr/>
        </p:nvSpPr>
        <p:spPr>
          <a:xfrm>
            <a:off x="406400" y="5372100"/>
            <a:ext cx="11379200" cy="660400"/>
          </a:xfrm>
          <a:prstGeom prst="rect">
            <a:avLst/>
          </a:prstGeom>
          <a:solidFill>
            <a:srgbClr val="DCF4E4"/>
          </a:solidFill>
          <a:ln w="25400">
            <a:solidFill>
              <a:srgbClr val="166E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6A2C189-FA1C-8DA6-40C3-94ECE1843081}"/>
              </a:ext>
            </a:extLst>
          </p:cNvPr>
          <p:cNvSpPr txBox="1"/>
          <p:nvPr/>
        </p:nvSpPr>
        <p:spPr>
          <a:xfrm>
            <a:off x="584200" y="5422900"/>
            <a:ext cx="11125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000" b="1">
                <a:solidFill>
                  <a:srgbClr val="166E2A"/>
                </a:solidFill>
              </a:rPr>
              <a:t>Divisores de 24:  { 1,  2,  3,  4,  6,  8,  12,  24 }  →  8 divisores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F1C70261-6EDD-3D5C-A480-A9010D22AF1C}"/>
              </a:ext>
            </a:extLst>
          </p:cNvPr>
          <p:cNvSpPr txBox="1"/>
          <p:nvPr/>
        </p:nvSpPr>
        <p:spPr>
          <a:xfrm>
            <a:off x="406400" y="6146800"/>
            <a:ext cx="1137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500">
                <a:solidFill>
                  <a:srgbClr val="5F697D"/>
                </a:solidFill>
              </a:rPr>
              <a:t>Dica: o último divisor é sempre o próprio número.</a:t>
            </a:r>
          </a:p>
        </p:txBody>
      </p:sp>
    </p:spTree>
    <p:extLst>
      <p:ext uri="{BB962C8B-B14F-4D97-AF65-F5344CB8AC3E}">
        <p14:creationId xmlns:p14="http://schemas.microsoft.com/office/powerpoint/2010/main" val="4166707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AB2CAB4-71E0-0E69-CACE-F668E58C7027}"/>
              </a:ext>
            </a:extLst>
          </p:cNvPr>
          <p:cNvSpPr txBox="1"/>
          <p:nvPr/>
        </p:nvSpPr>
        <p:spPr>
          <a:xfrm>
            <a:off x="482600" y="228600"/>
            <a:ext cx="1016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8800" b="1">
                <a:solidFill>
                  <a:srgbClr val="C8D7F5"/>
                </a:solidFill>
              </a:rPr>
              <a:t>π</a:t>
            </a:r>
            <a:endParaRPr lang="pt-BR" sz="8800" b="1">
              <a:solidFill>
                <a:srgbClr val="C8D7F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44378CF-6A95-6A30-A976-062593D084D7}"/>
              </a:ext>
            </a:extLst>
          </p:cNvPr>
          <p:cNvSpPr txBox="1"/>
          <p:nvPr/>
        </p:nvSpPr>
        <p:spPr>
          <a:xfrm>
            <a:off x="10820400" y="177800"/>
            <a:ext cx="1016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8000" b="1">
                <a:solidFill>
                  <a:srgbClr val="C8D7F5"/>
                </a:solidFill>
              </a:rPr>
              <a:t>∑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4D36E55-8A39-64AE-E89C-2DE5856FB1CD}"/>
              </a:ext>
            </a:extLst>
          </p:cNvPr>
          <p:cNvSpPr txBox="1"/>
          <p:nvPr/>
        </p:nvSpPr>
        <p:spPr>
          <a:xfrm>
            <a:off x="279400" y="4889500"/>
            <a:ext cx="1016000" cy="12311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7400" b="1">
                <a:solidFill>
                  <a:srgbClr val="C8D7F5"/>
                </a:solidFill>
              </a:rPr>
              <a:t>√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2E2B754-0D97-736C-4C42-63EDBE161508}"/>
              </a:ext>
            </a:extLst>
          </p:cNvPr>
          <p:cNvSpPr txBox="1"/>
          <p:nvPr/>
        </p:nvSpPr>
        <p:spPr>
          <a:xfrm>
            <a:off x="11023600" y="5270500"/>
            <a:ext cx="1016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800" b="1">
                <a:solidFill>
                  <a:srgbClr val="C8D7F5"/>
                </a:solidFill>
              </a:rPr>
              <a:t>∞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450A5F3-0088-DE69-F9B8-C38C751827AB}"/>
              </a:ext>
            </a:extLst>
          </p:cNvPr>
          <p:cNvSpPr txBox="1"/>
          <p:nvPr/>
        </p:nvSpPr>
        <p:spPr>
          <a:xfrm>
            <a:off x="5715000" y="101600"/>
            <a:ext cx="1016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800" b="1">
                <a:solidFill>
                  <a:srgbClr val="C8D7F5"/>
                </a:solidFill>
              </a:rPr>
              <a:t>÷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612A869-6446-39F5-3F66-9EA8B14F6993}"/>
              </a:ext>
            </a:extLst>
          </p:cNvPr>
          <p:cNvSpPr txBox="1"/>
          <p:nvPr/>
        </p:nvSpPr>
        <p:spPr>
          <a:xfrm>
            <a:off x="8890000" y="5715000"/>
            <a:ext cx="1016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400" b="1">
                <a:solidFill>
                  <a:srgbClr val="C8D7F5"/>
                </a:solidFill>
              </a:rPr>
              <a:t>×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95E6461-F2DE-FDBA-A40C-46A09EC43E47}"/>
              </a:ext>
            </a:extLst>
          </p:cNvPr>
          <p:cNvSpPr txBox="1"/>
          <p:nvPr/>
        </p:nvSpPr>
        <p:spPr>
          <a:xfrm>
            <a:off x="1879600" y="5588000"/>
            <a:ext cx="101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400" b="1">
                <a:solidFill>
                  <a:srgbClr val="C8D7F5"/>
                </a:solidFill>
              </a:rPr>
              <a:t>²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ED4E1A5-170A-5BAC-2162-8D30C9B39CCE}"/>
              </a:ext>
            </a:extLst>
          </p:cNvPr>
          <p:cNvSpPr txBox="1"/>
          <p:nvPr/>
        </p:nvSpPr>
        <p:spPr>
          <a:xfrm>
            <a:off x="1066800" y="2349500"/>
            <a:ext cx="1016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6200" b="1">
                <a:solidFill>
                  <a:srgbClr val="C8D7F5"/>
                </a:solidFill>
              </a:rPr>
              <a:t>Δ</a:t>
            </a:r>
            <a:endParaRPr lang="pt-BR" sz="6200" b="1">
              <a:solidFill>
                <a:srgbClr val="C8D7F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6703867-1A58-D459-C0DA-D995049A8C7A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43C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510B8B3-A582-9A99-13DE-051F5106E107}"/>
              </a:ext>
            </a:extLst>
          </p:cNvPr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166E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5F540CF-DEEE-67BD-29F2-0EFDA76423B4}"/>
              </a:ext>
            </a:extLst>
          </p:cNvPr>
          <p:cNvSpPr/>
          <p:nvPr/>
        </p:nvSpPr>
        <p:spPr>
          <a:xfrm>
            <a:off x="304800" y="177800"/>
            <a:ext cx="2768600" cy="609600"/>
          </a:xfrm>
          <a:prstGeom prst="rect">
            <a:avLst/>
          </a:prstGeom>
          <a:solidFill>
            <a:srgbClr val="166E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1797414-F40A-145E-2800-FC3C7CE2DD53}"/>
              </a:ext>
            </a:extLst>
          </p:cNvPr>
          <p:cNvSpPr txBox="1"/>
          <p:nvPr/>
        </p:nvSpPr>
        <p:spPr>
          <a:xfrm>
            <a:off x="304800" y="177800"/>
            <a:ext cx="276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900" b="1">
                <a:solidFill>
                  <a:srgbClr val="FFFFFF"/>
                </a:solidFill>
              </a:rPr>
              <a:t>Exercício 1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8FE2EE6-581A-14F0-CD72-31EEA1A73681}"/>
              </a:ext>
            </a:extLst>
          </p:cNvPr>
          <p:cNvSpPr txBox="1"/>
          <p:nvPr/>
        </p:nvSpPr>
        <p:spPr>
          <a:xfrm>
            <a:off x="3200400" y="152400"/>
            <a:ext cx="863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AAC8F0"/>
                </a:solidFill>
              </a:rPr>
              <a:t>Divisores de um Número  —  6.º Ano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5B3BEA5-F33D-A7EF-110D-737A50D7B591}"/>
              </a:ext>
            </a:extLst>
          </p:cNvPr>
          <p:cNvSpPr/>
          <p:nvPr/>
        </p:nvSpPr>
        <p:spPr>
          <a:xfrm>
            <a:off x="406400" y="1168400"/>
            <a:ext cx="11379200" cy="3556000"/>
          </a:xfrm>
          <a:prstGeom prst="rect">
            <a:avLst/>
          </a:prstGeom>
          <a:solidFill>
            <a:srgbClr val="ECF4FF"/>
          </a:solidFill>
          <a:ln w="25400">
            <a:solidFill>
              <a:srgbClr val="143C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C14B93C-D9B2-55AA-FE94-E2A217A18D55}"/>
              </a:ext>
            </a:extLst>
          </p:cNvPr>
          <p:cNvSpPr txBox="1"/>
          <p:nvPr/>
        </p:nvSpPr>
        <p:spPr>
          <a:xfrm>
            <a:off x="660400" y="13716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200">
                <a:solidFill>
                  <a:srgbClr val="0A1E5A"/>
                </a:solidFill>
              </a:rPr>
              <a:t>Escreva todos os divisores do número 30.
Lembre-se: verifique quais números dividem 30 com resto zero.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FD72755-D194-80A5-795F-CC44175B1406}"/>
              </a:ext>
            </a:extLst>
          </p:cNvPr>
          <p:cNvSpPr/>
          <p:nvPr/>
        </p:nvSpPr>
        <p:spPr>
          <a:xfrm>
            <a:off x="406400" y="4876800"/>
            <a:ext cx="11379200" cy="736600"/>
          </a:xfrm>
          <a:prstGeom prst="rect">
            <a:avLst/>
          </a:prstGeom>
          <a:solidFill>
            <a:srgbClr val="F8FCFF"/>
          </a:solidFill>
          <a:ln w="12700">
            <a:solidFill>
              <a:srgbClr val="B4D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99BECBA-F644-9F68-C66D-C8373A608DB3}"/>
              </a:ext>
            </a:extLst>
          </p:cNvPr>
          <p:cNvSpPr txBox="1"/>
          <p:nvPr/>
        </p:nvSpPr>
        <p:spPr>
          <a:xfrm>
            <a:off x="660400" y="49530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5F697D"/>
                </a:solidFill>
              </a:rPr>
              <a:t>Resposta:  _______________________________________________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B98C469-33E9-9B1F-EE01-A1E505A32CA1}"/>
              </a:ext>
            </a:extLst>
          </p:cNvPr>
          <p:cNvSpPr txBox="1"/>
          <p:nvPr/>
        </p:nvSpPr>
        <p:spPr>
          <a:xfrm>
            <a:off x="406400" y="5715000"/>
            <a:ext cx="1137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>
                <a:solidFill>
                  <a:srgbClr val="8C9BB4"/>
                </a:solidFill>
              </a:rPr>
              <a:t>Mostre seu raciocínio!</a:t>
            </a:r>
          </a:p>
        </p:txBody>
      </p:sp>
    </p:spTree>
    <p:extLst>
      <p:ext uri="{BB962C8B-B14F-4D97-AF65-F5344CB8AC3E}">
        <p14:creationId xmlns:p14="http://schemas.microsoft.com/office/powerpoint/2010/main" val="2613865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F93D01-F56A-969B-6931-C33D62C92A3C}"/>
              </a:ext>
            </a:extLst>
          </p:cNvPr>
          <p:cNvSpPr txBox="1"/>
          <p:nvPr/>
        </p:nvSpPr>
        <p:spPr>
          <a:xfrm>
            <a:off x="482600" y="228600"/>
            <a:ext cx="1016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8800" b="1">
                <a:solidFill>
                  <a:srgbClr val="C8D7F5"/>
                </a:solidFill>
              </a:rPr>
              <a:t>π</a:t>
            </a:r>
            <a:endParaRPr lang="pt-BR" sz="8800" b="1">
              <a:solidFill>
                <a:srgbClr val="C8D7F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6CAC93-3DB3-C8EF-9E9E-A5A5CDA58DE3}"/>
              </a:ext>
            </a:extLst>
          </p:cNvPr>
          <p:cNvSpPr txBox="1"/>
          <p:nvPr/>
        </p:nvSpPr>
        <p:spPr>
          <a:xfrm>
            <a:off x="10820400" y="177800"/>
            <a:ext cx="1016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8000" b="1">
                <a:solidFill>
                  <a:srgbClr val="C8D7F5"/>
                </a:solidFill>
              </a:rPr>
              <a:t>∑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B9D7A4D-6955-FB1D-7099-A2854BBD5C1B}"/>
              </a:ext>
            </a:extLst>
          </p:cNvPr>
          <p:cNvSpPr txBox="1"/>
          <p:nvPr/>
        </p:nvSpPr>
        <p:spPr>
          <a:xfrm>
            <a:off x="279400" y="4889500"/>
            <a:ext cx="1016000" cy="12311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7400" b="1">
                <a:solidFill>
                  <a:srgbClr val="C8D7F5"/>
                </a:solidFill>
              </a:rPr>
              <a:t>√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7627D7A-2D74-5E68-6C37-F84841701AC2}"/>
              </a:ext>
            </a:extLst>
          </p:cNvPr>
          <p:cNvSpPr txBox="1"/>
          <p:nvPr/>
        </p:nvSpPr>
        <p:spPr>
          <a:xfrm>
            <a:off x="11023600" y="5270500"/>
            <a:ext cx="1016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800" b="1">
                <a:solidFill>
                  <a:srgbClr val="C8D7F5"/>
                </a:solidFill>
              </a:rPr>
              <a:t>∞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FFDBE02-FE7A-9855-8548-10B2EC0AB03D}"/>
              </a:ext>
            </a:extLst>
          </p:cNvPr>
          <p:cNvSpPr txBox="1"/>
          <p:nvPr/>
        </p:nvSpPr>
        <p:spPr>
          <a:xfrm>
            <a:off x="5715000" y="101600"/>
            <a:ext cx="1016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800" b="1">
                <a:solidFill>
                  <a:srgbClr val="C8D7F5"/>
                </a:solidFill>
              </a:rPr>
              <a:t>÷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CAC493D-E2E0-D137-C5B9-2C452C8989DF}"/>
              </a:ext>
            </a:extLst>
          </p:cNvPr>
          <p:cNvSpPr txBox="1"/>
          <p:nvPr/>
        </p:nvSpPr>
        <p:spPr>
          <a:xfrm>
            <a:off x="8890000" y="5715000"/>
            <a:ext cx="1016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400" b="1">
                <a:solidFill>
                  <a:srgbClr val="C8D7F5"/>
                </a:solidFill>
              </a:rPr>
              <a:t>×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6295381-5B8F-0253-2EA1-046C4DF5FC10}"/>
              </a:ext>
            </a:extLst>
          </p:cNvPr>
          <p:cNvSpPr txBox="1"/>
          <p:nvPr/>
        </p:nvSpPr>
        <p:spPr>
          <a:xfrm>
            <a:off x="1879600" y="5588000"/>
            <a:ext cx="101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400" b="1">
                <a:solidFill>
                  <a:srgbClr val="C8D7F5"/>
                </a:solidFill>
              </a:rPr>
              <a:t>²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172D141-7A3A-FD1C-2C7B-EEC771E7BBFB}"/>
              </a:ext>
            </a:extLst>
          </p:cNvPr>
          <p:cNvSpPr txBox="1"/>
          <p:nvPr/>
        </p:nvSpPr>
        <p:spPr>
          <a:xfrm>
            <a:off x="1066800" y="2349500"/>
            <a:ext cx="1016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6200" b="1">
                <a:solidFill>
                  <a:srgbClr val="C8D7F5"/>
                </a:solidFill>
              </a:rPr>
              <a:t>Δ</a:t>
            </a:r>
            <a:endParaRPr lang="pt-BR" sz="6200" b="1">
              <a:solidFill>
                <a:srgbClr val="C8D7F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08A0F12-4EC0-A07D-92C6-BB1199BDAFEC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43C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1CA1DFD-57BA-2BEA-700B-B1CD1034F2F5}"/>
              </a:ext>
            </a:extLst>
          </p:cNvPr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166E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6D81898-B66D-AE10-0A38-E82F92CFE841}"/>
              </a:ext>
            </a:extLst>
          </p:cNvPr>
          <p:cNvSpPr/>
          <p:nvPr/>
        </p:nvSpPr>
        <p:spPr>
          <a:xfrm>
            <a:off x="304800" y="177800"/>
            <a:ext cx="2768600" cy="609600"/>
          </a:xfrm>
          <a:prstGeom prst="rect">
            <a:avLst/>
          </a:prstGeom>
          <a:solidFill>
            <a:srgbClr val="166E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84BEB14-0806-E4DF-2F68-5F28588555EB}"/>
              </a:ext>
            </a:extLst>
          </p:cNvPr>
          <p:cNvSpPr txBox="1"/>
          <p:nvPr/>
        </p:nvSpPr>
        <p:spPr>
          <a:xfrm>
            <a:off x="304800" y="177800"/>
            <a:ext cx="276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900" b="1">
                <a:solidFill>
                  <a:srgbClr val="FFFFFF"/>
                </a:solidFill>
              </a:rPr>
              <a:t>Exercício 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6328930-14F8-8CAD-0D55-B19E02DF941E}"/>
              </a:ext>
            </a:extLst>
          </p:cNvPr>
          <p:cNvSpPr txBox="1"/>
          <p:nvPr/>
        </p:nvSpPr>
        <p:spPr>
          <a:xfrm>
            <a:off x="3200400" y="152400"/>
            <a:ext cx="863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AAC8F0"/>
                </a:solidFill>
              </a:rPr>
              <a:t>Divisores de um Número  —  6.º Ano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D134A4F-BACF-EC3D-BC0A-BD1F64B61035}"/>
              </a:ext>
            </a:extLst>
          </p:cNvPr>
          <p:cNvSpPr/>
          <p:nvPr/>
        </p:nvSpPr>
        <p:spPr>
          <a:xfrm>
            <a:off x="406400" y="1168400"/>
            <a:ext cx="11379200" cy="3556000"/>
          </a:xfrm>
          <a:prstGeom prst="rect">
            <a:avLst/>
          </a:prstGeom>
          <a:solidFill>
            <a:srgbClr val="ECF4FF"/>
          </a:solidFill>
          <a:ln w="25400">
            <a:solidFill>
              <a:srgbClr val="143C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0E19475-622B-1D86-79D1-4105493552C8}"/>
              </a:ext>
            </a:extLst>
          </p:cNvPr>
          <p:cNvSpPr txBox="1"/>
          <p:nvPr/>
        </p:nvSpPr>
        <p:spPr>
          <a:xfrm>
            <a:off x="660400" y="13716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200">
                <a:solidFill>
                  <a:srgbClr val="0A1E5A"/>
                </a:solidFill>
              </a:rPr>
              <a:t>Complete os divisores do número 16:
1,   ___,   ___,   ___,   16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2B2C8BF-BCFF-17EC-06FB-73FF089928D2}"/>
              </a:ext>
            </a:extLst>
          </p:cNvPr>
          <p:cNvSpPr/>
          <p:nvPr/>
        </p:nvSpPr>
        <p:spPr>
          <a:xfrm>
            <a:off x="406400" y="4876800"/>
            <a:ext cx="11379200" cy="736600"/>
          </a:xfrm>
          <a:prstGeom prst="rect">
            <a:avLst/>
          </a:prstGeom>
          <a:solidFill>
            <a:srgbClr val="F8FCFF"/>
          </a:solidFill>
          <a:ln w="12700">
            <a:solidFill>
              <a:srgbClr val="B4D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D47A885-D0A0-3442-7C5A-595EB69CD927}"/>
              </a:ext>
            </a:extLst>
          </p:cNvPr>
          <p:cNvSpPr txBox="1"/>
          <p:nvPr/>
        </p:nvSpPr>
        <p:spPr>
          <a:xfrm>
            <a:off x="660400" y="49530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5F697D"/>
                </a:solidFill>
              </a:rPr>
              <a:t>Resposta:  _______________________________________________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F031CF8-6C73-8C54-F04D-2BED20DD29FB}"/>
              </a:ext>
            </a:extLst>
          </p:cNvPr>
          <p:cNvSpPr txBox="1"/>
          <p:nvPr/>
        </p:nvSpPr>
        <p:spPr>
          <a:xfrm>
            <a:off x="406400" y="5715000"/>
            <a:ext cx="1137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>
                <a:solidFill>
                  <a:srgbClr val="8C9BB4"/>
                </a:solidFill>
              </a:rPr>
              <a:t>Mostre seu raciocínio!</a:t>
            </a:r>
          </a:p>
        </p:txBody>
      </p:sp>
    </p:spTree>
    <p:extLst>
      <p:ext uri="{BB962C8B-B14F-4D97-AF65-F5344CB8AC3E}">
        <p14:creationId xmlns:p14="http://schemas.microsoft.com/office/powerpoint/2010/main" val="1681297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099CCA1-AFCD-F096-8CCD-2AA9061623EA}"/>
              </a:ext>
            </a:extLst>
          </p:cNvPr>
          <p:cNvSpPr txBox="1"/>
          <p:nvPr/>
        </p:nvSpPr>
        <p:spPr>
          <a:xfrm>
            <a:off x="482600" y="228600"/>
            <a:ext cx="1016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8800" b="1">
                <a:solidFill>
                  <a:srgbClr val="C8D7F5"/>
                </a:solidFill>
              </a:rPr>
              <a:t>π</a:t>
            </a:r>
            <a:endParaRPr lang="pt-BR" sz="8800" b="1">
              <a:solidFill>
                <a:srgbClr val="C8D7F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D350D57-C42F-98EB-B438-7DE80D265981}"/>
              </a:ext>
            </a:extLst>
          </p:cNvPr>
          <p:cNvSpPr txBox="1"/>
          <p:nvPr/>
        </p:nvSpPr>
        <p:spPr>
          <a:xfrm>
            <a:off x="10820400" y="177800"/>
            <a:ext cx="1016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8000" b="1">
                <a:solidFill>
                  <a:srgbClr val="C8D7F5"/>
                </a:solidFill>
              </a:rPr>
              <a:t>∑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B36BDB6-1175-C4DD-8EA1-39BB41D84F40}"/>
              </a:ext>
            </a:extLst>
          </p:cNvPr>
          <p:cNvSpPr txBox="1"/>
          <p:nvPr/>
        </p:nvSpPr>
        <p:spPr>
          <a:xfrm>
            <a:off x="279400" y="4889500"/>
            <a:ext cx="1016000" cy="12311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7400" b="1">
                <a:solidFill>
                  <a:srgbClr val="C8D7F5"/>
                </a:solidFill>
              </a:rPr>
              <a:t>√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557AF96-2C24-D002-55A4-FE36025D1235}"/>
              </a:ext>
            </a:extLst>
          </p:cNvPr>
          <p:cNvSpPr txBox="1"/>
          <p:nvPr/>
        </p:nvSpPr>
        <p:spPr>
          <a:xfrm>
            <a:off x="11023600" y="5270500"/>
            <a:ext cx="1016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800" b="1">
                <a:solidFill>
                  <a:srgbClr val="C8D7F5"/>
                </a:solidFill>
              </a:rPr>
              <a:t>∞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66BA772-78C1-2BF0-E9C6-AA90F45581EF}"/>
              </a:ext>
            </a:extLst>
          </p:cNvPr>
          <p:cNvSpPr txBox="1"/>
          <p:nvPr/>
        </p:nvSpPr>
        <p:spPr>
          <a:xfrm>
            <a:off x="5715000" y="101600"/>
            <a:ext cx="1016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800" b="1">
                <a:solidFill>
                  <a:srgbClr val="C8D7F5"/>
                </a:solidFill>
              </a:rPr>
              <a:t>÷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886DDC7-79F7-4D65-955D-38764EE28038}"/>
              </a:ext>
            </a:extLst>
          </p:cNvPr>
          <p:cNvSpPr txBox="1"/>
          <p:nvPr/>
        </p:nvSpPr>
        <p:spPr>
          <a:xfrm>
            <a:off x="8890000" y="5715000"/>
            <a:ext cx="1016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400" b="1">
                <a:solidFill>
                  <a:srgbClr val="C8D7F5"/>
                </a:solidFill>
              </a:rPr>
              <a:t>×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9D46BED-8844-FB74-0516-BBFE91267BD7}"/>
              </a:ext>
            </a:extLst>
          </p:cNvPr>
          <p:cNvSpPr txBox="1"/>
          <p:nvPr/>
        </p:nvSpPr>
        <p:spPr>
          <a:xfrm>
            <a:off x="1879600" y="5588000"/>
            <a:ext cx="101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400" b="1">
                <a:solidFill>
                  <a:srgbClr val="C8D7F5"/>
                </a:solidFill>
              </a:rPr>
              <a:t>²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9A3C33E-342E-5BB1-869B-4F09364960F3}"/>
              </a:ext>
            </a:extLst>
          </p:cNvPr>
          <p:cNvSpPr txBox="1"/>
          <p:nvPr/>
        </p:nvSpPr>
        <p:spPr>
          <a:xfrm>
            <a:off x="1066800" y="2349500"/>
            <a:ext cx="1016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6200" b="1">
                <a:solidFill>
                  <a:srgbClr val="C8D7F5"/>
                </a:solidFill>
              </a:rPr>
              <a:t>Δ</a:t>
            </a:r>
            <a:endParaRPr lang="pt-BR" sz="6200" b="1">
              <a:solidFill>
                <a:srgbClr val="C8D7F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8EEAD2E-5B91-CCD8-2D43-80F3A1246BEE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43C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E8064E0-F409-D7A9-4296-618694ECC70D}"/>
              </a:ext>
            </a:extLst>
          </p:cNvPr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166E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306A135-417E-CA43-D140-2B79B620FCBE}"/>
              </a:ext>
            </a:extLst>
          </p:cNvPr>
          <p:cNvSpPr/>
          <p:nvPr/>
        </p:nvSpPr>
        <p:spPr>
          <a:xfrm>
            <a:off x="304800" y="177800"/>
            <a:ext cx="2768600" cy="609600"/>
          </a:xfrm>
          <a:prstGeom prst="rect">
            <a:avLst/>
          </a:prstGeom>
          <a:solidFill>
            <a:srgbClr val="166E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0E2D26-2BBE-8A11-28AE-D08CD7E98A33}"/>
              </a:ext>
            </a:extLst>
          </p:cNvPr>
          <p:cNvSpPr txBox="1"/>
          <p:nvPr/>
        </p:nvSpPr>
        <p:spPr>
          <a:xfrm>
            <a:off x="304800" y="177800"/>
            <a:ext cx="276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900" b="1">
                <a:solidFill>
                  <a:srgbClr val="FFFFFF"/>
                </a:solidFill>
              </a:rPr>
              <a:t>Exercício 3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F93F198-F96E-B5CF-B253-7A8D82111AE0}"/>
              </a:ext>
            </a:extLst>
          </p:cNvPr>
          <p:cNvSpPr txBox="1"/>
          <p:nvPr/>
        </p:nvSpPr>
        <p:spPr>
          <a:xfrm>
            <a:off x="3200400" y="152400"/>
            <a:ext cx="863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AAC8F0"/>
                </a:solidFill>
              </a:rPr>
              <a:t>Divisores de um Número  —  6.º Ano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53B3C80-9A8D-66BB-CA68-AC2180369D74}"/>
              </a:ext>
            </a:extLst>
          </p:cNvPr>
          <p:cNvSpPr/>
          <p:nvPr/>
        </p:nvSpPr>
        <p:spPr>
          <a:xfrm>
            <a:off x="406400" y="1168400"/>
            <a:ext cx="11379200" cy="3556000"/>
          </a:xfrm>
          <a:prstGeom prst="rect">
            <a:avLst/>
          </a:prstGeom>
          <a:solidFill>
            <a:srgbClr val="ECF4FF"/>
          </a:solidFill>
          <a:ln w="25400">
            <a:solidFill>
              <a:srgbClr val="143C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2995135-E5BD-69C3-EBD2-84E9F748EE5B}"/>
              </a:ext>
            </a:extLst>
          </p:cNvPr>
          <p:cNvSpPr txBox="1"/>
          <p:nvPr/>
        </p:nvSpPr>
        <p:spPr>
          <a:xfrm>
            <a:off x="660400" y="13716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200">
                <a:solidFill>
                  <a:srgbClr val="0A1E5A"/>
                </a:solidFill>
              </a:rPr>
              <a:t>Marque com X apenas os divisores de 36:
( ) 4     ( ) 5     ( ) 6     ( ) 7     ( ) 9     ( ) 12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83A7A90-E045-76C2-4E4C-6F189C7F2A5C}"/>
              </a:ext>
            </a:extLst>
          </p:cNvPr>
          <p:cNvSpPr/>
          <p:nvPr/>
        </p:nvSpPr>
        <p:spPr>
          <a:xfrm>
            <a:off x="406400" y="4876800"/>
            <a:ext cx="11379200" cy="736600"/>
          </a:xfrm>
          <a:prstGeom prst="rect">
            <a:avLst/>
          </a:prstGeom>
          <a:solidFill>
            <a:srgbClr val="F8FCFF"/>
          </a:solidFill>
          <a:ln w="12700">
            <a:solidFill>
              <a:srgbClr val="B4D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1B12CAB-F876-397F-8035-65184A85B0D0}"/>
              </a:ext>
            </a:extLst>
          </p:cNvPr>
          <p:cNvSpPr txBox="1"/>
          <p:nvPr/>
        </p:nvSpPr>
        <p:spPr>
          <a:xfrm>
            <a:off x="660400" y="49530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5F697D"/>
                </a:solidFill>
              </a:rPr>
              <a:t>Resposta:  _______________________________________________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EE43B03-A634-8AB8-14D8-65EFD708A086}"/>
              </a:ext>
            </a:extLst>
          </p:cNvPr>
          <p:cNvSpPr txBox="1"/>
          <p:nvPr/>
        </p:nvSpPr>
        <p:spPr>
          <a:xfrm>
            <a:off x="406400" y="5715000"/>
            <a:ext cx="1137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>
                <a:solidFill>
                  <a:srgbClr val="8C9BB4"/>
                </a:solidFill>
              </a:rPr>
              <a:t>Mostre seu raciocínio!</a:t>
            </a:r>
          </a:p>
        </p:txBody>
      </p:sp>
    </p:spTree>
    <p:extLst>
      <p:ext uri="{BB962C8B-B14F-4D97-AF65-F5344CB8AC3E}">
        <p14:creationId xmlns:p14="http://schemas.microsoft.com/office/powerpoint/2010/main" val="861662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51036E7-FE3A-74FE-963D-7A44F41AB2B3}"/>
              </a:ext>
            </a:extLst>
          </p:cNvPr>
          <p:cNvSpPr txBox="1"/>
          <p:nvPr/>
        </p:nvSpPr>
        <p:spPr>
          <a:xfrm>
            <a:off x="482600" y="228600"/>
            <a:ext cx="1016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8800" b="1">
                <a:solidFill>
                  <a:srgbClr val="C8D7F5"/>
                </a:solidFill>
              </a:rPr>
              <a:t>π</a:t>
            </a:r>
            <a:endParaRPr lang="pt-BR" sz="8800" b="1">
              <a:solidFill>
                <a:srgbClr val="C8D7F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5D0FAC8-B3CD-74DD-AB41-2120334E1539}"/>
              </a:ext>
            </a:extLst>
          </p:cNvPr>
          <p:cNvSpPr txBox="1"/>
          <p:nvPr/>
        </p:nvSpPr>
        <p:spPr>
          <a:xfrm>
            <a:off x="10820400" y="177800"/>
            <a:ext cx="1016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8000" b="1">
                <a:solidFill>
                  <a:srgbClr val="C8D7F5"/>
                </a:solidFill>
              </a:rPr>
              <a:t>∑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C3967E7-FBA8-5A5E-A5B7-D5C31430DCC8}"/>
              </a:ext>
            </a:extLst>
          </p:cNvPr>
          <p:cNvSpPr txBox="1"/>
          <p:nvPr/>
        </p:nvSpPr>
        <p:spPr>
          <a:xfrm>
            <a:off x="279400" y="4889500"/>
            <a:ext cx="1016000" cy="12311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7400" b="1">
                <a:solidFill>
                  <a:srgbClr val="C8D7F5"/>
                </a:solidFill>
              </a:rPr>
              <a:t>√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CA1A8B7-F68C-216C-A85F-9BE764F0EA88}"/>
              </a:ext>
            </a:extLst>
          </p:cNvPr>
          <p:cNvSpPr txBox="1"/>
          <p:nvPr/>
        </p:nvSpPr>
        <p:spPr>
          <a:xfrm>
            <a:off x="11023600" y="5270500"/>
            <a:ext cx="1016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800" b="1">
                <a:solidFill>
                  <a:srgbClr val="C8D7F5"/>
                </a:solidFill>
              </a:rPr>
              <a:t>∞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4DBA8F8-77F5-B375-B925-D3A0A15530AB}"/>
              </a:ext>
            </a:extLst>
          </p:cNvPr>
          <p:cNvSpPr txBox="1"/>
          <p:nvPr/>
        </p:nvSpPr>
        <p:spPr>
          <a:xfrm>
            <a:off x="5715000" y="101600"/>
            <a:ext cx="1016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800" b="1">
                <a:solidFill>
                  <a:srgbClr val="C8D7F5"/>
                </a:solidFill>
              </a:rPr>
              <a:t>÷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DC3350D-A939-2971-3D6B-0AFF8788DC81}"/>
              </a:ext>
            </a:extLst>
          </p:cNvPr>
          <p:cNvSpPr txBox="1"/>
          <p:nvPr/>
        </p:nvSpPr>
        <p:spPr>
          <a:xfrm>
            <a:off x="8890000" y="5715000"/>
            <a:ext cx="1016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400" b="1">
                <a:solidFill>
                  <a:srgbClr val="C8D7F5"/>
                </a:solidFill>
              </a:rPr>
              <a:t>×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E5A14F6-7FA7-A12B-BC1B-27F54CFE9626}"/>
              </a:ext>
            </a:extLst>
          </p:cNvPr>
          <p:cNvSpPr txBox="1"/>
          <p:nvPr/>
        </p:nvSpPr>
        <p:spPr>
          <a:xfrm>
            <a:off x="1879600" y="5588000"/>
            <a:ext cx="101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400" b="1">
                <a:solidFill>
                  <a:srgbClr val="C8D7F5"/>
                </a:solidFill>
              </a:rPr>
              <a:t>²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11F5E11-6A4D-E587-7160-E410126754FA}"/>
              </a:ext>
            </a:extLst>
          </p:cNvPr>
          <p:cNvSpPr txBox="1"/>
          <p:nvPr/>
        </p:nvSpPr>
        <p:spPr>
          <a:xfrm>
            <a:off x="1066800" y="2349500"/>
            <a:ext cx="1016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6200" b="1">
                <a:solidFill>
                  <a:srgbClr val="C8D7F5"/>
                </a:solidFill>
              </a:rPr>
              <a:t>Δ</a:t>
            </a:r>
            <a:endParaRPr lang="pt-BR" sz="6200" b="1">
              <a:solidFill>
                <a:srgbClr val="C8D7F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26A687C-7C49-19DC-C7D7-ADC161BDCBD8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43C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96B3AA6-68F8-58A9-C755-E2DB5D3F50D8}"/>
              </a:ext>
            </a:extLst>
          </p:cNvPr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166E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7A8DD8A-C325-6719-ED1E-59AB14AFEB26}"/>
              </a:ext>
            </a:extLst>
          </p:cNvPr>
          <p:cNvSpPr/>
          <p:nvPr/>
        </p:nvSpPr>
        <p:spPr>
          <a:xfrm>
            <a:off x="304800" y="177800"/>
            <a:ext cx="2768600" cy="609600"/>
          </a:xfrm>
          <a:prstGeom prst="rect">
            <a:avLst/>
          </a:prstGeom>
          <a:solidFill>
            <a:srgbClr val="166E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E3DB93D-CC23-60F8-1490-34365E649DB3}"/>
              </a:ext>
            </a:extLst>
          </p:cNvPr>
          <p:cNvSpPr txBox="1"/>
          <p:nvPr/>
        </p:nvSpPr>
        <p:spPr>
          <a:xfrm>
            <a:off x="304800" y="177800"/>
            <a:ext cx="276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900" b="1">
                <a:solidFill>
                  <a:srgbClr val="FFFFFF"/>
                </a:solidFill>
              </a:rPr>
              <a:t>Exercício 4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3562FC6-F4D0-7BBD-625B-73377869EB4E}"/>
              </a:ext>
            </a:extLst>
          </p:cNvPr>
          <p:cNvSpPr txBox="1"/>
          <p:nvPr/>
        </p:nvSpPr>
        <p:spPr>
          <a:xfrm>
            <a:off x="3200400" y="152400"/>
            <a:ext cx="863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AAC8F0"/>
                </a:solidFill>
              </a:rPr>
              <a:t>Divisores de um Número  —  6.º Ano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0CE055F-A87D-BB0B-F9AA-C9A83FD646B9}"/>
              </a:ext>
            </a:extLst>
          </p:cNvPr>
          <p:cNvSpPr/>
          <p:nvPr/>
        </p:nvSpPr>
        <p:spPr>
          <a:xfrm>
            <a:off x="406400" y="1168400"/>
            <a:ext cx="11379200" cy="3556000"/>
          </a:xfrm>
          <a:prstGeom prst="rect">
            <a:avLst/>
          </a:prstGeom>
          <a:solidFill>
            <a:srgbClr val="ECF4FF"/>
          </a:solidFill>
          <a:ln w="25400">
            <a:solidFill>
              <a:srgbClr val="143C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BD6859D-3088-F98F-EAFF-B6C111974287}"/>
              </a:ext>
            </a:extLst>
          </p:cNvPr>
          <p:cNvSpPr txBox="1"/>
          <p:nvPr/>
        </p:nvSpPr>
        <p:spPr>
          <a:xfrm>
            <a:off x="660400" y="13716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200">
                <a:solidFill>
                  <a:srgbClr val="0A1E5A"/>
                </a:solidFill>
              </a:rPr>
              <a:t>O número 7 é divisor de 56?
Faça a divisão e mostre o cálculo para justificar sua resposta.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75F96FA-F4B4-5066-CBF0-EB71F655A821}"/>
              </a:ext>
            </a:extLst>
          </p:cNvPr>
          <p:cNvSpPr/>
          <p:nvPr/>
        </p:nvSpPr>
        <p:spPr>
          <a:xfrm>
            <a:off x="406400" y="4876800"/>
            <a:ext cx="11379200" cy="736600"/>
          </a:xfrm>
          <a:prstGeom prst="rect">
            <a:avLst/>
          </a:prstGeom>
          <a:solidFill>
            <a:srgbClr val="F8FCFF"/>
          </a:solidFill>
          <a:ln w="12700">
            <a:solidFill>
              <a:srgbClr val="B4D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268CC81-5C2E-7D90-D706-FF41880175F0}"/>
              </a:ext>
            </a:extLst>
          </p:cNvPr>
          <p:cNvSpPr txBox="1"/>
          <p:nvPr/>
        </p:nvSpPr>
        <p:spPr>
          <a:xfrm>
            <a:off x="660400" y="49530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5F697D"/>
                </a:solidFill>
              </a:rPr>
              <a:t>Resposta:  _______________________________________________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CE242B3-0B22-78B1-D771-6AAE4E4E9B3C}"/>
              </a:ext>
            </a:extLst>
          </p:cNvPr>
          <p:cNvSpPr txBox="1"/>
          <p:nvPr/>
        </p:nvSpPr>
        <p:spPr>
          <a:xfrm>
            <a:off x="406400" y="5715000"/>
            <a:ext cx="1137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>
                <a:solidFill>
                  <a:srgbClr val="8C9BB4"/>
                </a:solidFill>
              </a:rPr>
              <a:t>Mostre seu raciocínio!</a:t>
            </a:r>
          </a:p>
        </p:txBody>
      </p:sp>
    </p:spTree>
    <p:extLst>
      <p:ext uri="{BB962C8B-B14F-4D97-AF65-F5344CB8AC3E}">
        <p14:creationId xmlns:p14="http://schemas.microsoft.com/office/powerpoint/2010/main" val="2106366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D1DF5E-DF0A-C6B9-279F-EDE5A8D9696C}"/>
              </a:ext>
            </a:extLst>
          </p:cNvPr>
          <p:cNvSpPr txBox="1"/>
          <p:nvPr/>
        </p:nvSpPr>
        <p:spPr>
          <a:xfrm>
            <a:off x="482600" y="228600"/>
            <a:ext cx="1016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8800" b="1">
                <a:solidFill>
                  <a:srgbClr val="C8D7F5"/>
                </a:solidFill>
              </a:rPr>
              <a:t>π</a:t>
            </a:r>
            <a:endParaRPr lang="pt-BR" sz="8800" b="1">
              <a:solidFill>
                <a:srgbClr val="C8D7F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07FEFEC-0464-DAA8-64B7-0FF80D2D2AA6}"/>
              </a:ext>
            </a:extLst>
          </p:cNvPr>
          <p:cNvSpPr txBox="1"/>
          <p:nvPr/>
        </p:nvSpPr>
        <p:spPr>
          <a:xfrm>
            <a:off x="10820400" y="177800"/>
            <a:ext cx="1016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8000" b="1">
                <a:solidFill>
                  <a:srgbClr val="C8D7F5"/>
                </a:solidFill>
              </a:rPr>
              <a:t>∑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0C09D13-B002-CE0B-F878-528A93AB68FA}"/>
              </a:ext>
            </a:extLst>
          </p:cNvPr>
          <p:cNvSpPr txBox="1"/>
          <p:nvPr/>
        </p:nvSpPr>
        <p:spPr>
          <a:xfrm>
            <a:off x="279400" y="4889500"/>
            <a:ext cx="1016000" cy="12311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7400" b="1">
                <a:solidFill>
                  <a:srgbClr val="C8D7F5"/>
                </a:solidFill>
              </a:rPr>
              <a:t>√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B16C521-4390-D8A5-5E9C-5384B896698C}"/>
              </a:ext>
            </a:extLst>
          </p:cNvPr>
          <p:cNvSpPr txBox="1"/>
          <p:nvPr/>
        </p:nvSpPr>
        <p:spPr>
          <a:xfrm>
            <a:off x="11023600" y="5270500"/>
            <a:ext cx="1016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800" b="1">
                <a:solidFill>
                  <a:srgbClr val="C8D7F5"/>
                </a:solidFill>
              </a:rPr>
              <a:t>∞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BB76D47-62DA-7E63-F7C9-B51BEA882D9D}"/>
              </a:ext>
            </a:extLst>
          </p:cNvPr>
          <p:cNvSpPr txBox="1"/>
          <p:nvPr/>
        </p:nvSpPr>
        <p:spPr>
          <a:xfrm>
            <a:off x="5715000" y="101600"/>
            <a:ext cx="1016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800" b="1">
                <a:solidFill>
                  <a:srgbClr val="C8D7F5"/>
                </a:solidFill>
              </a:rPr>
              <a:t>÷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F89658D-129D-43CD-93F9-DA7C04504D91}"/>
              </a:ext>
            </a:extLst>
          </p:cNvPr>
          <p:cNvSpPr txBox="1"/>
          <p:nvPr/>
        </p:nvSpPr>
        <p:spPr>
          <a:xfrm>
            <a:off x="8890000" y="5715000"/>
            <a:ext cx="1016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400" b="1">
                <a:solidFill>
                  <a:srgbClr val="C8D7F5"/>
                </a:solidFill>
              </a:rPr>
              <a:t>×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7659228-5EB0-8018-29A3-C6D91263A3C3}"/>
              </a:ext>
            </a:extLst>
          </p:cNvPr>
          <p:cNvSpPr txBox="1"/>
          <p:nvPr/>
        </p:nvSpPr>
        <p:spPr>
          <a:xfrm>
            <a:off x="1879600" y="5588000"/>
            <a:ext cx="101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400" b="1">
                <a:solidFill>
                  <a:srgbClr val="C8D7F5"/>
                </a:solidFill>
              </a:rPr>
              <a:t>²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DAAB7F1-7DED-5B68-749E-64DF2F274C0E}"/>
              </a:ext>
            </a:extLst>
          </p:cNvPr>
          <p:cNvSpPr txBox="1"/>
          <p:nvPr/>
        </p:nvSpPr>
        <p:spPr>
          <a:xfrm>
            <a:off x="1066800" y="2349500"/>
            <a:ext cx="1016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6200" b="1">
                <a:solidFill>
                  <a:srgbClr val="C8D7F5"/>
                </a:solidFill>
              </a:rPr>
              <a:t>Δ</a:t>
            </a:r>
            <a:endParaRPr lang="pt-BR" sz="6200" b="1">
              <a:solidFill>
                <a:srgbClr val="C8D7F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0DFE64A-534B-A0A1-2F39-27586067D53B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143C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84D1525-A0D4-B042-3FF2-6BBD2720C9F6}"/>
              </a:ext>
            </a:extLst>
          </p:cNvPr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166E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627163E-2249-FB52-FCB6-8F1AE929B51E}"/>
              </a:ext>
            </a:extLst>
          </p:cNvPr>
          <p:cNvSpPr/>
          <p:nvPr/>
        </p:nvSpPr>
        <p:spPr>
          <a:xfrm>
            <a:off x="304800" y="177800"/>
            <a:ext cx="2768600" cy="609600"/>
          </a:xfrm>
          <a:prstGeom prst="rect">
            <a:avLst/>
          </a:prstGeom>
          <a:solidFill>
            <a:srgbClr val="166E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05E41C6-FB1E-D497-C30B-08911D24CFC2}"/>
              </a:ext>
            </a:extLst>
          </p:cNvPr>
          <p:cNvSpPr txBox="1"/>
          <p:nvPr/>
        </p:nvSpPr>
        <p:spPr>
          <a:xfrm>
            <a:off x="304800" y="177800"/>
            <a:ext cx="276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900" b="1">
                <a:solidFill>
                  <a:srgbClr val="FFFFFF"/>
                </a:solidFill>
              </a:rPr>
              <a:t>Exercício 5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6D2FD5-A6B8-21A9-E08E-FA43A26D174D}"/>
              </a:ext>
            </a:extLst>
          </p:cNvPr>
          <p:cNvSpPr txBox="1"/>
          <p:nvPr/>
        </p:nvSpPr>
        <p:spPr>
          <a:xfrm>
            <a:off x="3200400" y="152400"/>
            <a:ext cx="863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AAC8F0"/>
                </a:solidFill>
              </a:rPr>
              <a:t>Divisores de um Número  —  6.º Ano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90639D8-D47E-DD94-5FA6-93656CFC4719}"/>
              </a:ext>
            </a:extLst>
          </p:cNvPr>
          <p:cNvSpPr/>
          <p:nvPr/>
        </p:nvSpPr>
        <p:spPr>
          <a:xfrm>
            <a:off x="406400" y="1168400"/>
            <a:ext cx="11379200" cy="3556000"/>
          </a:xfrm>
          <a:prstGeom prst="rect">
            <a:avLst/>
          </a:prstGeom>
          <a:solidFill>
            <a:srgbClr val="ECF4FF"/>
          </a:solidFill>
          <a:ln w="25400">
            <a:solidFill>
              <a:srgbClr val="143C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2CA0130-C7A4-5659-2BAC-97BEE2BD163C}"/>
              </a:ext>
            </a:extLst>
          </p:cNvPr>
          <p:cNvSpPr txBox="1"/>
          <p:nvPr/>
        </p:nvSpPr>
        <p:spPr>
          <a:xfrm>
            <a:off x="660400" y="13716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200">
                <a:solidFill>
                  <a:srgbClr val="0A1E5A"/>
                </a:solidFill>
              </a:rPr>
              <a:t>Um número tem apenas 2 divisores: 1 e ele mesmo.
Como chamamos esse tipo de número? Dê dois exemplos.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F393928-1580-55BD-067B-92A399FB378A}"/>
              </a:ext>
            </a:extLst>
          </p:cNvPr>
          <p:cNvSpPr/>
          <p:nvPr/>
        </p:nvSpPr>
        <p:spPr>
          <a:xfrm>
            <a:off x="406400" y="4876800"/>
            <a:ext cx="11379200" cy="736600"/>
          </a:xfrm>
          <a:prstGeom prst="rect">
            <a:avLst/>
          </a:prstGeom>
          <a:solidFill>
            <a:srgbClr val="F8FCFF"/>
          </a:solidFill>
          <a:ln w="12700">
            <a:solidFill>
              <a:srgbClr val="B4D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0B0DAFF-CB7B-2D9B-8FE5-8015628CC2EE}"/>
              </a:ext>
            </a:extLst>
          </p:cNvPr>
          <p:cNvSpPr txBox="1"/>
          <p:nvPr/>
        </p:nvSpPr>
        <p:spPr>
          <a:xfrm>
            <a:off x="660400" y="49530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5F697D"/>
                </a:solidFill>
              </a:rPr>
              <a:t>Resposta:  _______________________________________________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86FDB3D-34F0-0591-3418-A97709871250}"/>
              </a:ext>
            </a:extLst>
          </p:cNvPr>
          <p:cNvSpPr txBox="1"/>
          <p:nvPr/>
        </p:nvSpPr>
        <p:spPr>
          <a:xfrm>
            <a:off x="406400" y="5715000"/>
            <a:ext cx="1137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>
                <a:solidFill>
                  <a:srgbClr val="8C9BB4"/>
                </a:solidFill>
              </a:rPr>
              <a:t>Mostre seu raciocínio!</a:t>
            </a:r>
          </a:p>
        </p:txBody>
      </p:sp>
    </p:spTree>
    <p:extLst>
      <p:ext uri="{BB962C8B-B14F-4D97-AF65-F5344CB8AC3E}">
        <p14:creationId xmlns:p14="http://schemas.microsoft.com/office/powerpoint/2010/main" val="579871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4436703-FCC4-0F4D-4763-D64CAFA3D5BC}"/>
              </a:ext>
            </a:extLst>
          </p:cNvPr>
          <p:cNvSpPr txBox="1"/>
          <p:nvPr/>
        </p:nvSpPr>
        <p:spPr>
          <a:xfrm>
            <a:off x="482600" y="228600"/>
            <a:ext cx="1016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8800" b="1">
                <a:solidFill>
                  <a:srgbClr val="C8D7F5"/>
                </a:solidFill>
              </a:rPr>
              <a:t>π</a:t>
            </a:r>
            <a:endParaRPr lang="pt-BR" sz="8800" b="1">
              <a:solidFill>
                <a:srgbClr val="C8D7F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525BFFF-A8F5-F384-5D3E-45D7368D3ABC}"/>
              </a:ext>
            </a:extLst>
          </p:cNvPr>
          <p:cNvSpPr txBox="1"/>
          <p:nvPr/>
        </p:nvSpPr>
        <p:spPr>
          <a:xfrm>
            <a:off x="10820400" y="177800"/>
            <a:ext cx="1016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8000" b="1">
                <a:solidFill>
                  <a:srgbClr val="C8D7F5"/>
                </a:solidFill>
              </a:rPr>
              <a:t>∑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1F0CD19-5077-3192-AF70-5A91998E5BAF}"/>
              </a:ext>
            </a:extLst>
          </p:cNvPr>
          <p:cNvSpPr txBox="1"/>
          <p:nvPr/>
        </p:nvSpPr>
        <p:spPr>
          <a:xfrm>
            <a:off x="279400" y="4889500"/>
            <a:ext cx="1016000" cy="12311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7400" b="1">
                <a:solidFill>
                  <a:srgbClr val="C8D7F5"/>
                </a:solidFill>
              </a:rPr>
              <a:t>√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E01A4B3-DEB3-8F2E-1826-F961B65ADA75}"/>
              </a:ext>
            </a:extLst>
          </p:cNvPr>
          <p:cNvSpPr txBox="1"/>
          <p:nvPr/>
        </p:nvSpPr>
        <p:spPr>
          <a:xfrm>
            <a:off x="11023600" y="5270500"/>
            <a:ext cx="1016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800" b="1">
                <a:solidFill>
                  <a:srgbClr val="C8D7F5"/>
                </a:solidFill>
              </a:rPr>
              <a:t>∞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AC60390-5C1E-987C-E3DC-5D183FA58139}"/>
              </a:ext>
            </a:extLst>
          </p:cNvPr>
          <p:cNvSpPr txBox="1"/>
          <p:nvPr/>
        </p:nvSpPr>
        <p:spPr>
          <a:xfrm>
            <a:off x="5715000" y="101600"/>
            <a:ext cx="1016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800" b="1">
                <a:solidFill>
                  <a:srgbClr val="C8D7F5"/>
                </a:solidFill>
              </a:rPr>
              <a:t>÷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A43036C-A564-A536-CAD5-8B6B66FD5E80}"/>
              </a:ext>
            </a:extLst>
          </p:cNvPr>
          <p:cNvSpPr txBox="1"/>
          <p:nvPr/>
        </p:nvSpPr>
        <p:spPr>
          <a:xfrm>
            <a:off x="8890000" y="5715000"/>
            <a:ext cx="1016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400" b="1">
                <a:solidFill>
                  <a:srgbClr val="C8D7F5"/>
                </a:solidFill>
              </a:rPr>
              <a:t>×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60B31B7-3AC0-F1F3-507A-42BD6BA9826F}"/>
              </a:ext>
            </a:extLst>
          </p:cNvPr>
          <p:cNvSpPr txBox="1"/>
          <p:nvPr/>
        </p:nvSpPr>
        <p:spPr>
          <a:xfrm>
            <a:off x="1879600" y="5588000"/>
            <a:ext cx="101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400" b="1">
                <a:solidFill>
                  <a:srgbClr val="C8D7F5"/>
                </a:solidFill>
              </a:rPr>
              <a:t>²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09C2E84-9E7B-7963-5F50-CCB2878EC190}"/>
              </a:ext>
            </a:extLst>
          </p:cNvPr>
          <p:cNvSpPr txBox="1"/>
          <p:nvPr/>
        </p:nvSpPr>
        <p:spPr>
          <a:xfrm>
            <a:off x="1066800" y="2349500"/>
            <a:ext cx="1016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6200" b="1">
                <a:solidFill>
                  <a:srgbClr val="C8D7F5"/>
                </a:solidFill>
              </a:rPr>
              <a:t>Δ</a:t>
            </a:r>
            <a:endParaRPr lang="pt-BR" sz="6200" b="1">
              <a:solidFill>
                <a:srgbClr val="C8D7F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E79B32C-5C92-21C5-D427-160810A28125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702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09243D1-0FE4-E286-6F73-BCB964B8D095}"/>
              </a:ext>
            </a:extLst>
          </p:cNvPr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02C24DB-7321-8C2A-EDBF-F54990ED8C8C}"/>
              </a:ext>
            </a:extLst>
          </p:cNvPr>
          <p:cNvSpPr/>
          <p:nvPr/>
        </p:nvSpPr>
        <p:spPr>
          <a:xfrm>
            <a:off x="304800" y="177800"/>
            <a:ext cx="3759200" cy="6096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31A38AF-7304-933C-5E6F-E1EE0F72F675}"/>
              </a:ext>
            </a:extLst>
          </p:cNvPr>
          <p:cNvSpPr txBox="1"/>
          <p:nvPr/>
        </p:nvSpPr>
        <p:spPr>
          <a:xfrm>
            <a:off x="304800" y="177800"/>
            <a:ext cx="375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700" b="1">
                <a:solidFill>
                  <a:srgbClr val="FFFFFF"/>
                </a:solidFill>
              </a:rPr>
              <a:t>Situação-Problema 1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3DF90D5-18BB-8D04-7115-0A66BC1132A1}"/>
              </a:ext>
            </a:extLst>
          </p:cNvPr>
          <p:cNvSpPr txBox="1"/>
          <p:nvPr/>
        </p:nvSpPr>
        <p:spPr>
          <a:xfrm>
            <a:off x="4191000" y="152400"/>
            <a:ext cx="7683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DAB288"/>
                </a:solidFill>
              </a:rPr>
              <a:t>Divisores de um Número  —  6.º Ano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7EFC9F1-0C7B-E46A-A763-F10D3F22C5C2}"/>
              </a:ext>
            </a:extLst>
          </p:cNvPr>
          <p:cNvSpPr/>
          <p:nvPr/>
        </p:nvSpPr>
        <p:spPr>
          <a:xfrm>
            <a:off x="406400" y="1168400"/>
            <a:ext cx="11379200" cy="3619500"/>
          </a:xfrm>
          <a:prstGeom prst="rect">
            <a:avLst/>
          </a:prstGeom>
          <a:solidFill>
            <a:srgbClr val="FFF9EC"/>
          </a:solidFill>
          <a:ln w="25400">
            <a:solidFill>
              <a:srgbClr val="C35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AC19CA9-0619-5597-ED12-9D081D565293}"/>
              </a:ext>
            </a:extLst>
          </p:cNvPr>
          <p:cNvSpPr txBox="1"/>
          <p:nvPr/>
        </p:nvSpPr>
        <p:spPr>
          <a:xfrm>
            <a:off x="660400" y="13716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100">
                <a:solidFill>
                  <a:srgbClr val="0A1E5A"/>
                </a:solidFill>
              </a:rPr>
              <a:t>Uma professora quer dividir 24 alunos em grupos iguais, sem deixar nenhum aluno de fora.
Quais os tamanhos de grupo possíveis?
(Use os divisores de 24)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A7BEBB3-3434-D469-13FF-530527667B08}"/>
              </a:ext>
            </a:extLst>
          </p:cNvPr>
          <p:cNvSpPr/>
          <p:nvPr/>
        </p:nvSpPr>
        <p:spPr>
          <a:xfrm>
            <a:off x="406400" y="4927600"/>
            <a:ext cx="11379200" cy="736600"/>
          </a:xfrm>
          <a:prstGeom prst="rect">
            <a:avLst/>
          </a:prstGeom>
          <a:solidFill>
            <a:srgbClr val="F8FCFF"/>
          </a:solidFill>
          <a:ln w="12700">
            <a:solidFill>
              <a:srgbClr val="C6B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91C00CE-CC3F-60B9-2412-8922B7E32101}"/>
              </a:ext>
            </a:extLst>
          </p:cNvPr>
          <p:cNvSpPr txBox="1"/>
          <p:nvPr/>
        </p:nvSpPr>
        <p:spPr>
          <a:xfrm>
            <a:off x="660400" y="50038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5F697D"/>
                </a:solidFill>
              </a:rPr>
              <a:t>Resposta:  _______________________________________________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6880F06-CE49-61F1-3164-90B69192D4F3}"/>
              </a:ext>
            </a:extLst>
          </p:cNvPr>
          <p:cNvSpPr txBox="1"/>
          <p:nvPr/>
        </p:nvSpPr>
        <p:spPr>
          <a:xfrm>
            <a:off x="406400" y="5740400"/>
            <a:ext cx="1137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>
                <a:solidFill>
                  <a:srgbClr val="9E8060"/>
                </a:solidFill>
              </a:rPr>
              <a:t>Use os divisores para resolver!</a:t>
            </a:r>
          </a:p>
        </p:txBody>
      </p:sp>
    </p:spTree>
    <p:extLst>
      <p:ext uri="{BB962C8B-B14F-4D97-AF65-F5344CB8AC3E}">
        <p14:creationId xmlns:p14="http://schemas.microsoft.com/office/powerpoint/2010/main" val="4060657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1448BFB-540A-7534-C395-55910ACA9F45}"/>
              </a:ext>
            </a:extLst>
          </p:cNvPr>
          <p:cNvSpPr txBox="1"/>
          <p:nvPr/>
        </p:nvSpPr>
        <p:spPr>
          <a:xfrm>
            <a:off x="482600" y="228600"/>
            <a:ext cx="1016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8800" b="1">
                <a:solidFill>
                  <a:srgbClr val="C8D7F5"/>
                </a:solidFill>
              </a:rPr>
              <a:t>π</a:t>
            </a:r>
            <a:endParaRPr lang="pt-BR" sz="8800" b="1">
              <a:solidFill>
                <a:srgbClr val="C8D7F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F0944AE-463D-6062-CE55-563FC2EEF37E}"/>
              </a:ext>
            </a:extLst>
          </p:cNvPr>
          <p:cNvSpPr txBox="1"/>
          <p:nvPr/>
        </p:nvSpPr>
        <p:spPr>
          <a:xfrm>
            <a:off x="10820400" y="177800"/>
            <a:ext cx="1016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8000" b="1">
                <a:solidFill>
                  <a:srgbClr val="C8D7F5"/>
                </a:solidFill>
              </a:rPr>
              <a:t>∑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792F7FF-A786-2DC1-4C48-1D8CAC2AC922}"/>
              </a:ext>
            </a:extLst>
          </p:cNvPr>
          <p:cNvSpPr txBox="1"/>
          <p:nvPr/>
        </p:nvSpPr>
        <p:spPr>
          <a:xfrm>
            <a:off x="279400" y="4889500"/>
            <a:ext cx="1016000" cy="12311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7400" b="1">
                <a:solidFill>
                  <a:srgbClr val="C8D7F5"/>
                </a:solidFill>
              </a:rPr>
              <a:t>√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0AB7211-B88B-7F69-8919-DA961DC2417B}"/>
              </a:ext>
            </a:extLst>
          </p:cNvPr>
          <p:cNvSpPr txBox="1"/>
          <p:nvPr/>
        </p:nvSpPr>
        <p:spPr>
          <a:xfrm>
            <a:off x="11023600" y="5270500"/>
            <a:ext cx="1016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800" b="1">
                <a:solidFill>
                  <a:srgbClr val="C8D7F5"/>
                </a:solidFill>
              </a:rPr>
              <a:t>∞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8CF52B7-DBAE-C0FB-9B3D-9F48D8F39517}"/>
              </a:ext>
            </a:extLst>
          </p:cNvPr>
          <p:cNvSpPr txBox="1"/>
          <p:nvPr/>
        </p:nvSpPr>
        <p:spPr>
          <a:xfrm>
            <a:off x="5715000" y="101600"/>
            <a:ext cx="1016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800" b="1">
                <a:solidFill>
                  <a:srgbClr val="C8D7F5"/>
                </a:solidFill>
              </a:rPr>
              <a:t>÷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4C8A82B-02C5-2606-9C75-FBA03361A69E}"/>
              </a:ext>
            </a:extLst>
          </p:cNvPr>
          <p:cNvSpPr txBox="1"/>
          <p:nvPr/>
        </p:nvSpPr>
        <p:spPr>
          <a:xfrm>
            <a:off x="8890000" y="5715000"/>
            <a:ext cx="1016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400" b="1">
                <a:solidFill>
                  <a:srgbClr val="C8D7F5"/>
                </a:solidFill>
              </a:rPr>
              <a:t>×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10667F9-F33F-F1AC-4557-79020C818671}"/>
              </a:ext>
            </a:extLst>
          </p:cNvPr>
          <p:cNvSpPr txBox="1"/>
          <p:nvPr/>
        </p:nvSpPr>
        <p:spPr>
          <a:xfrm>
            <a:off x="1879600" y="5588000"/>
            <a:ext cx="101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400" b="1">
                <a:solidFill>
                  <a:srgbClr val="C8D7F5"/>
                </a:solidFill>
              </a:rPr>
              <a:t>²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B176836-F5FA-153C-351A-7431D8005F9B}"/>
              </a:ext>
            </a:extLst>
          </p:cNvPr>
          <p:cNvSpPr txBox="1"/>
          <p:nvPr/>
        </p:nvSpPr>
        <p:spPr>
          <a:xfrm>
            <a:off x="1066800" y="2349500"/>
            <a:ext cx="1016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6200" b="1">
                <a:solidFill>
                  <a:srgbClr val="C8D7F5"/>
                </a:solidFill>
              </a:rPr>
              <a:t>Δ</a:t>
            </a:r>
            <a:endParaRPr lang="pt-BR" sz="6200" b="1">
              <a:solidFill>
                <a:srgbClr val="C8D7F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078D1A0-D184-A3C5-93BC-BB2D664086C5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702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AC18FEF-7D40-6A1B-8D9F-32949FB869DD}"/>
              </a:ext>
            </a:extLst>
          </p:cNvPr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A73F89E-E50A-73E6-EB67-147D3127E5DE}"/>
              </a:ext>
            </a:extLst>
          </p:cNvPr>
          <p:cNvSpPr/>
          <p:nvPr/>
        </p:nvSpPr>
        <p:spPr>
          <a:xfrm>
            <a:off x="304800" y="177800"/>
            <a:ext cx="3759200" cy="6096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B0B6EE5-E4B8-479C-7C91-6EF257D79547}"/>
              </a:ext>
            </a:extLst>
          </p:cNvPr>
          <p:cNvSpPr txBox="1"/>
          <p:nvPr/>
        </p:nvSpPr>
        <p:spPr>
          <a:xfrm>
            <a:off x="304800" y="177800"/>
            <a:ext cx="375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700" b="1">
                <a:solidFill>
                  <a:srgbClr val="FFFFFF"/>
                </a:solidFill>
              </a:rPr>
              <a:t>Situação-Problema 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9D569F0-88D1-E583-45FC-30F32B58986F}"/>
              </a:ext>
            </a:extLst>
          </p:cNvPr>
          <p:cNvSpPr txBox="1"/>
          <p:nvPr/>
        </p:nvSpPr>
        <p:spPr>
          <a:xfrm>
            <a:off x="4191000" y="152400"/>
            <a:ext cx="7683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DAB288"/>
                </a:solidFill>
              </a:rPr>
              <a:t>Divisores de um Número  —  6.º Ano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C5D9FB0-8D47-8EE8-E397-F909329F63F2}"/>
              </a:ext>
            </a:extLst>
          </p:cNvPr>
          <p:cNvSpPr/>
          <p:nvPr/>
        </p:nvSpPr>
        <p:spPr>
          <a:xfrm>
            <a:off x="406400" y="1168400"/>
            <a:ext cx="11379200" cy="3619500"/>
          </a:xfrm>
          <a:prstGeom prst="rect">
            <a:avLst/>
          </a:prstGeom>
          <a:solidFill>
            <a:srgbClr val="FFF9EC"/>
          </a:solidFill>
          <a:ln w="25400">
            <a:solidFill>
              <a:srgbClr val="C35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332ECB0-13CB-264D-72E2-BDE82EEE602E}"/>
              </a:ext>
            </a:extLst>
          </p:cNvPr>
          <p:cNvSpPr txBox="1"/>
          <p:nvPr/>
        </p:nvSpPr>
        <p:spPr>
          <a:xfrm>
            <a:off x="660400" y="13716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100">
                <a:solidFill>
                  <a:srgbClr val="0A1E5A"/>
                </a:solidFill>
              </a:rPr>
              <a:t>Um padeiro fez 36 pães e quer colocá-los em bandejas com o mesmo número de pães, sem sobrar nenhum.
Quais as opções de organização das bandejas?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962367E-4808-FAF3-0453-F5BE87363BB4}"/>
              </a:ext>
            </a:extLst>
          </p:cNvPr>
          <p:cNvSpPr/>
          <p:nvPr/>
        </p:nvSpPr>
        <p:spPr>
          <a:xfrm>
            <a:off x="406400" y="4927600"/>
            <a:ext cx="11379200" cy="736600"/>
          </a:xfrm>
          <a:prstGeom prst="rect">
            <a:avLst/>
          </a:prstGeom>
          <a:solidFill>
            <a:srgbClr val="F8FCFF"/>
          </a:solidFill>
          <a:ln w="12700">
            <a:solidFill>
              <a:srgbClr val="C6B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1C8DB16-5062-9EE0-4D9A-BF838A77865D}"/>
              </a:ext>
            </a:extLst>
          </p:cNvPr>
          <p:cNvSpPr txBox="1"/>
          <p:nvPr/>
        </p:nvSpPr>
        <p:spPr>
          <a:xfrm>
            <a:off x="660400" y="50038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5F697D"/>
                </a:solidFill>
              </a:rPr>
              <a:t>Resposta:  _______________________________________________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3D4CD78-47C8-0EBC-954A-35958B48811B}"/>
              </a:ext>
            </a:extLst>
          </p:cNvPr>
          <p:cNvSpPr txBox="1"/>
          <p:nvPr/>
        </p:nvSpPr>
        <p:spPr>
          <a:xfrm>
            <a:off x="406400" y="5740400"/>
            <a:ext cx="1137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>
                <a:solidFill>
                  <a:srgbClr val="9E8060"/>
                </a:solidFill>
              </a:rPr>
              <a:t>Use os divisores para resolver!</a:t>
            </a:r>
          </a:p>
        </p:txBody>
      </p:sp>
    </p:spTree>
    <p:extLst>
      <p:ext uri="{BB962C8B-B14F-4D97-AF65-F5344CB8AC3E}">
        <p14:creationId xmlns:p14="http://schemas.microsoft.com/office/powerpoint/2010/main" val="851701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F937011-0C45-D15C-29EB-635B7ECB0B99}"/>
              </a:ext>
            </a:extLst>
          </p:cNvPr>
          <p:cNvSpPr txBox="1"/>
          <p:nvPr/>
        </p:nvSpPr>
        <p:spPr>
          <a:xfrm>
            <a:off x="482600" y="228600"/>
            <a:ext cx="1016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8800" b="1">
                <a:solidFill>
                  <a:srgbClr val="C8D7F5"/>
                </a:solidFill>
              </a:rPr>
              <a:t>π</a:t>
            </a:r>
            <a:endParaRPr lang="pt-BR" sz="8800" b="1">
              <a:solidFill>
                <a:srgbClr val="C8D7F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4059A6A-5530-D2C0-AA4A-06C4CC540FED}"/>
              </a:ext>
            </a:extLst>
          </p:cNvPr>
          <p:cNvSpPr txBox="1"/>
          <p:nvPr/>
        </p:nvSpPr>
        <p:spPr>
          <a:xfrm>
            <a:off x="10820400" y="177800"/>
            <a:ext cx="1016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8000" b="1">
                <a:solidFill>
                  <a:srgbClr val="C8D7F5"/>
                </a:solidFill>
              </a:rPr>
              <a:t>∑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39996C-0987-C22A-45D1-FBE7641C79B1}"/>
              </a:ext>
            </a:extLst>
          </p:cNvPr>
          <p:cNvSpPr txBox="1"/>
          <p:nvPr/>
        </p:nvSpPr>
        <p:spPr>
          <a:xfrm>
            <a:off x="279400" y="4889500"/>
            <a:ext cx="1016000" cy="12311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7400" b="1">
                <a:solidFill>
                  <a:srgbClr val="C8D7F5"/>
                </a:solidFill>
              </a:rPr>
              <a:t>√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B70B80C-5B03-878C-F971-8C8E4C24EC88}"/>
              </a:ext>
            </a:extLst>
          </p:cNvPr>
          <p:cNvSpPr txBox="1"/>
          <p:nvPr/>
        </p:nvSpPr>
        <p:spPr>
          <a:xfrm>
            <a:off x="11023600" y="5270500"/>
            <a:ext cx="1016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800" b="1">
                <a:solidFill>
                  <a:srgbClr val="C8D7F5"/>
                </a:solidFill>
              </a:rPr>
              <a:t>∞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28C194-5A01-1B78-A25A-DCFABA43F455}"/>
              </a:ext>
            </a:extLst>
          </p:cNvPr>
          <p:cNvSpPr txBox="1"/>
          <p:nvPr/>
        </p:nvSpPr>
        <p:spPr>
          <a:xfrm>
            <a:off x="5715000" y="101600"/>
            <a:ext cx="1016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800" b="1">
                <a:solidFill>
                  <a:srgbClr val="C8D7F5"/>
                </a:solidFill>
              </a:rPr>
              <a:t>÷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5612469-6404-506D-7E42-D5306FCF1961}"/>
              </a:ext>
            </a:extLst>
          </p:cNvPr>
          <p:cNvSpPr txBox="1"/>
          <p:nvPr/>
        </p:nvSpPr>
        <p:spPr>
          <a:xfrm>
            <a:off x="8890000" y="5715000"/>
            <a:ext cx="1016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400" b="1">
                <a:solidFill>
                  <a:srgbClr val="C8D7F5"/>
                </a:solidFill>
              </a:rPr>
              <a:t>×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9F8E623-A2E9-0153-A76B-62998FD94F61}"/>
              </a:ext>
            </a:extLst>
          </p:cNvPr>
          <p:cNvSpPr txBox="1"/>
          <p:nvPr/>
        </p:nvSpPr>
        <p:spPr>
          <a:xfrm>
            <a:off x="1879600" y="5588000"/>
            <a:ext cx="101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400" b="1">
                <a:solidFill>
                  <a:srgbClr val="C8D7F5"/>
                </a:solidFill>
              </a:rPr>
              <a:t>²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50B476A-B6A8-BD9B-A838-C6939F9EA1F8}"/>
              </a:ext>
            </a:extLst>
          </p:cNvPr>
          <p:cNvSpPr txBox="1"/>
          <p:nvPr/>
        </p:nvSpPr>
        <p:spPr>
          <a:xfrm>
            <a:off x="1066800" y="2349500"/>
            <a:ext cx="1016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6200" b="1">
                <a:solidFill>
                  <a:srgbClr val="C8D7F5"/>
                </a:solidFill>
              </a:rPr>
              <a:t>Δ</a:t>
            </a:r>
            <a:endParaRPr lang="pt-BR" sz="6200" b="1">
              <a:solidFill>
                <a:srgbClr val="C8D7F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8ABA6B6-36F8-1E35-4D48-4301933FB1EE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702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D0241CC-9DDA-2588-A9BC-DA3A740F6154}"/>
              </a:ext>
            </a:extLst>
          </p:cNvPr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F7A52C0-D9DA-CF19-E82C-81DB77497533}"/>
              </a:ext>
            </a:extLst>
          </p:cNvPr>
          <p:cNvSpPr/>
          <p:nvPr/>
        </p:nvSpPr>
        <p:spPr>
          <a:xfrm>
            <a:off x="304800" y="177800"/>
            <a:ext cx="3759200" cy="6096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279F9F8-0C6E-C686-0A94-EE652C612EC5}"/>
              </a:ext>
            </a:extLst>
          </p:cNvPr>
          <p:cNvSpPr txBox="1"/>
          <p:nvPr/>
        </p:nvSpPr>
        <p:spPr>
          <a:xfrm>
            <a:off x="304800" y="177800"/>
            <a:ext cx="375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700" b="1">
                <a:solidFill>
                  <a:srgbClr val="FFFFFF"/>
                </a:solidFill>
              </a:rPr>
              <a:t>Situação-Problema 3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5D09FFA-E0EB-3591-2504-98A86DE253EB}"/>
              </a:ext>
            </a:extLst>
          </p:cNvPr>
          <p:cNvSpPr txBox="1"/>
          <p:nvPr/>
        </p:nvSpPr>
        <p:spPr>
          <a:xfrm>
            <a:off x="4191000" y="152400"/>
            <a:ext cx="7683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DAB288"/>
                </a:solidFill>
              </a:rPr>
              <a:t>Divisores de um Número  —  6.º Ano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F4584DB-126E-725D-796C-A0D6D79D621C}"/>
              </a:ext>
            </a:extLst>
          </p:cNvPr>
          <p:cNvSpPr/>
          <p:nvPr/>
        </p:nvSpPr>
        <p:spPr>
          <a:xfrm>
            <a:off x="406400" y="1168400"/>
            <a:ext cx="11379200" cy="3619500"/>
          </a:xfrm>
          <a:prstGeom prst="rect">
            <a:avLst/>
          </a:prstGeom>
          <a:solidFill>
            <a:srgbClr val="FFF9EC"/>
          </a:solidFill>
          <a:ln w="25400">
            <a:solidFill>
              <a:srgbClr val="C35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89C4DE3-77BF-443A-B092-236F36CF5DE5}"/>
              </a:ext>
            </a:extLst>
          </p:cNvPr>
          <p:cNvSpPr txBox="1"/>
          <p:nvPr/>
        </p:nvSpPr>
        <p:spPr>
          <a:xfrm>
            <a:off x="660400" y="13716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100">
                <a:solidFill>
                  <a:srgbClr val="0A1E5A"/>
                </a:solidFill>
              </a:rPr>
              <a:t>Um time tem 30 jogadores para dividir em equipes iguais para o treino.
Quais os tamanhos de equipes possíveis?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9E55CB6-D479-8422-0FC6-BA8B0A7424B4}"/>
              </a:ext>
            </a:extLst>
          </p:cNvPr>
          <p:cNvSpPr/>
          <p:nvPr/>
        </p:nvSpPr>
        <p:spPr>
          <a:xfrm>
            <a:off x="406400" y="4927600"/>
            <a:ext cx="11379200" cy="736600"/>
          </a:xfrm>
          <a:prstGeom prst="rect">
            <a:avLst/>
          </a:prstGeom>
          <a:solidFill>
            <a:srgbClr val="F8FCFF"/>
          </a:solidFill>
          <a:ln w="12700">
            <a:solidFill>
              <a:srgbClr val="C6B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5274635-AB3D-12D5-FD83-BEB6937C0557}"/>
              </a:ext>
            </a:extLst>
          </p:cNvPr>
          <p:cNvSpPr txBox="1"/>
          <p:nvPr/>
        </p:nvSpPr>
        <p:spPr>
          <a:xfrm>
            <a:off x="660400" y="50038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5F697D"/>
                </a:solidFill>
              </a:rPr>
              <a:t>Resposta:  _______________________________________________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DD079B0-3EF2-C642-657E-F8C2D0647AB5}"/>
              </a:ext>
            </a:extLst>
          </p:cNvPr>
          <p:cNvSpPr txBox="1"/>
          <p:nvPr/>
        </p:nvSpPr>
        <p:spPr>
          <a:xfrm>
            <a:off x="406400" y="5740400"/>
            <a:ext cx="1137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>
                <a:solidFill>
                  <a:srgbClr val="9E8060"/>
                </a:solidFill>
              </a:rPr>
              <a:t>Use os divisores para resolver!</a:t>
            </a:r>
          </a:p>
        </p:txBody>
      </p:sp>
    </p:spTree>
    <p:extLst>
      <p:ext uri="{BB962C8B-B14F-4D97-AF65-F5344CB8AC3E}">
        <p14:creationId xmlns:p14="http://schemas.microsoft.com/office/powerpoint/2010/main" val="3743353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B6C0547-3A6A-3511-F532-BE3E2C2D323B}"/>
              </a:ext>
            </a:extLst>
          </p:cNvPr>
          <p:cNvSpPr txBox="1"/>
          <p:nvPr/>
        </p:nvSpPr>
        <p:spPr>
          <a:xfrm>
            <a:off x="482600" y="228600"/>
            <a:ext cx="1016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8800" b="1">
                <a:solidFill>
                  <a:srgbClr val="C8D7F5"/>
                </a:solidFill>
              </a:rPr>
              <a:t>π</a:t>
            </a:r>
            <a:endParaRPr lang="pt-BR" sz="8800" b="1">
              <a:solidFill>
                <a:srgbClr val="C8D7F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68B79F0-F60A-9022-A50D-A32DE1113DCB}"/>
              </a:ext>
            </a:extLst>
          </p:cNvPr>
          <p:cNvSpPr txBox="1"/>
          <p:nvPr/>
        </p:nvSpPr>
        <p:spPr>
          <a:xfrm>
            <a:off x="10820400" y="177800"/>
            <a:ext cx="1016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8000" b="1">
                <a:solidFill>
                  <a:srgbClr val="C8D7F5"/>
                </a:solidFill>
              </a:rPr>
              <a:t>∑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EFE8791-A42C-7F68-06F0-66473C2B2708}"/>
              </a:ext>
            </a:extLst>
          </p:cNvPr>
          <p:cNvSpPr txBox="1"/>
          <p:nvPr/>
        </p:nvSpPr>
        <p:spPr>
          <a:xfrm>
            <a:off x="279400" y="4889500"/>
            <a:ext cx="1016000" cy="12311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7400" b="1">
                <a:solidFill>
                  <a:srgbClr val="C8D7F5"/>
                </a:solidFill>
              </a:rPr>
              <a:t>√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833DCD3-6EBC-46C2-CB0A-52704F95D869}"/>
              </a:ext>
            </a:extLst>
          </p:cNvPr>
          <p:cNvSpPr txBox="1"/>
          <p:nvPr/>
        </p:nvSpPr>
        <p:spPr>
          <a:xfrm>
            <a:off x="11023600" y="5270500"/>
            <a:ext cx="1016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800" b="1">
                <a:solidFill>
                  <a:srgbClr val="C8D7F5"/>
                </a:solidFill>
              </a:rPr>
              <a:t>∞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5E9398-685C-5A55-E481-BCD9E07BA3E8}"/>
              </a:ext>
            </a:extLst>
          </p:cNvPr>
          <p:cNvSpPr txBox="1"/>
          <p:nvPr/>
        </p:nvSpPr>
        <p:spPr>
          <a:xfrm>
            <a:off x="5715000" y="101600"/>
            <a:ext cx="1016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800" b="1">
                <a:solidFill>
                  <a:srgbClr val="C8D7F5"/>
                </a:solidFill>
              </a:rPr>
              <a:t>÷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9FFC064-35A9-92B7-25FB-03550DD21836}"/>
              </a:ext>
            </a:extLst>
          </p:cNvPr>
          <p:cNvSpPr txBox="1"/>
          <p:nvPr/>
        </p:nvSpPr>
        <p:spPr>
          <a:xfrm>
            <a:off x="8890000" y="5715000"/>
            <a:ext cx="1016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400" b="1">
                <a:solidFill>
                  <a:srgbClr val="C8D7F5"/>
                </a:solidFill>
              </a:rPr>
              <a:t>×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F9E21F4-1765-4ED3-E188-661B5D6379B4}"/>
              </a:ext>
            </a:extLst>
          </p:cNvPr>
          <p:cNvSpPr txBox="1"/>
          <p:nvPr/>
        </p:nvSpPr>
        <p:spPr>
          <a:xfrm>
            <a:off x="1879600" y="5588000"/>
            <a:ext cx="101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400" b="1">
                <a:solidFill>
                  <a:srgbClr val="C8D7F5"/>
                </a:solidFill>
              </a:rPr>
              <a:t>²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5DE62F6-68EF-BAA1-0ABC-615564678596}"/>
              </a:ext>
            </a:extLst>
          </p:cNvPr>
          <p:cNvSpPr txBox="1"/>
          <p:nvPr/>
        </p:nvSpPr>
        <p:spPr>
          <a:xfrm>
            <a:off x="1066800" y="2349500"/>
            <a:ext cx="1016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6200" b="1">
                <a:solidFill>
                  <a:srgbClr val="C8D7F5"/>
                </a:solidFill>
              </a:rPr>
              <a:t>Δ</a:t>
            </a:r>
            <a:endParaRPr lang="pt-BR" sz="6200" b="1">
              <a:solidFill>
                <a:srgbClr val="C8D7F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3B100AD-691B-09BB-57E7-772F1C14AA97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702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C004E93-0DD8-48ED-DF1F-46A25312C775}"/>
              </a:ext>
            </a:extLst>
          </p:cNvPr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3260003-4FC6-84AF-8675-77C0BE08C6D4}"/>
              </a:ext>
            </a:extLst>
          </p:cNvPr>
          <p:cNvSpPr/>
          <p:nvPr/>
        </p:nvSpPr>
        <p:spPr>
          <a:xfrm>
            <a:off x="304800" y="177800"/>
            <a:ext cx="3759200" cy="6096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86750A4-5289-1451-BE60-015F5B3B9E83}"/>
              </a:ext>
            </a:extLst>
          </p:cNvPr>
          <p:cNvSpPr txBox="1"/>
          <p:nvPr/>
        </p:nvSpPr>
        <p:spPr>
          <a:xfrm>
            <a:off x="304800" y="177800"/>
            <a:ext cx="375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700" b="1">
                <a:solidFill>
                  <a:srgbClr val="FFFFFF"/>
                </a:solidFill>
              </a:rPr>
              <a:t>Situação-Problema 4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540111C-754B-F70B-2EFD-DE10692A1E34}"/>
              </a:ext>
            </a:extLst>
          </p:cNvPr>
          <p:cNvSpPr txBox="1"/>
          <p:nvPr/>
        </p:nvSpPr>
        <p:spPr>
          <a:xfrm>
            <a:off x="4191000" y="152400"/>
            <a:ext cx="7683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DAB288"/>
                </a:solidFill>
              </a:rPr>
              <a:t>Divisores de um Número  —  6.º Ano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D972926-72F3-6D4F-3CE0-368B3A3EA3A3}"/>
              </a:ext>
            </a:extLst>
          </p:cNvPr>
          <p:cNvSpPr/>
          <p:nvPr/>
        </p:nvSpPr>
        <p:spPr>
          <a:xfrm>
            <a:off x="406400" y="1168400"/>
            <a:ext cx="11379200" cy="3619500"/>
          </a:xfrm>
          <a:prstGeom prst="rect">
            <a:avLst/>
          </a:prstGeom>
          <a:solidFill>
            <a:srgbClr val="FFF9EC"/>
          </a:solidFill>
          <a:ln w="25400">
            <a:solidFill>
              <a:srgbClr val="C35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6512D88-7907-A278-C34D-7F80EDF72F1C}"/>
              </a:ext>
            </a:extLst>
          </p:cNvPr>
          <p:cNvSpPr txBox="1"/>
          <p:nvPr/>
        </p:nvSpPr>
        <p:spPr>
          <a:xfrm>
            <a:off x="660400" y="13716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100">
                <a:solidFill>
                  <a:srgbClr val="0A1E5A"/>
                </a:solidFill>
              </a:rPr>
              <a:t>Pedro tem 48 figurinhas para distribuir igualmente entre seus amigos, sem sobrar nenhuma.
Quais as quantidades possíveis de amigos?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AB9EE15-9909-9A2A-8EC2-E1B0908A107C}"/>
              </a:ext>
            </a:extLst>
          </p:cNvPr>
          <p:cNvSpPr/>
          <p:nvPr/>
        </p:nvSpPr>
        <p:spPr>
          <a:xfrm>
            <a:off x="406400" y="4927600"/>
            <a:ext cx="11379200" cy="736600"/>
          </a:xfrm>
          <a:prstGeom prst="rect">
            <a:avLst/>
          </a:prstGeom>
          <a:solidFill>
            <a:srgbClr val="F8FCFF"/>
          </a:solidFill>
          <a:ln w="12700">
            <a:solidFill>
              <a:srgbClr val="C6B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CA2C6C4-3FD6-8203-196E-A74A726BCE8A}"/>
              </a:ext>
            </a:extLst>
          </p:cNvPr>
          <p:cNvSpPr txBox="1"/>
          <p:nvPr/>
        </p:nvSpPr>
        <p:spPr>
          <a:xfrm>
            <a:off x="660400" y="50038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5F697D"/>
                </a:solidFill>
              </a:rPr>
              <a:t>Resposta:  _______________________________________________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439D600-1774-CE62-CDB7-78DA78F37419}"/>
              </a:ext>
            </a:extLst>
          </p:cNvPr>
          <p:cNvSpPr txBox="1"/>
          <p:nvPr/>
        </p:nvSpPr>
        <p:spPr>
          <a:xfrm>
            <a:off x="406400" y="5740400"/>
            <a:ext cx="1137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>
                <a:solidFill>
                  <a:srgbClr val="9E8060"/>
                </a:solidFill>
              </a:rPr>
              <a:t>Use os divisores para resolver!</a:t>
            </a:r>
          </a:p>
        </p:txBody>
      </p:sp>
    </p:spTree>
    <p:extLst>
      <p:ext uri="{BB962C8B-B14F-4D97-AF65-F5344CB8AC3E}">
        <p14:creationId xmlns:p14="http://schemas.microsoft.com/office/powerpoint/2010/main" val="4159819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117B980-B717-66D8-AC17-2E7B5BA7E5CC}"/>
              </a:ext>
            </a:extLst>
          </p:cNvPr>
          <p:cNvSpPr txBox="1"/>
          <p:nvPr/>
        </p:nvSpPr>
        <p:spPr>
          <a:xfrm>
            <a:off x="482600" y="228600"/>
            <a:ext cx="1016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8800" b="1">
                <a:solidFill>
                  <a:srgbClr val="C8D7F5"/>
                </a:solidFill>
              </a:rPr>
              <a:t>π</a:t>
            </a:r>
            <a:endParaRPr lang="pt-BR" sz="8800" b="1">
              <a:solidFill>
                <a:srgbClr val="C8D7F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4BEE017-4A87-6526-BBEC-9BA72641DBFD}"/>
              </a:ext>
            </a:extLst>
          </p:cNvPr>
          <p:cNvSpPr txBox="1"/>
          <p:nvPr/>
        </p:nvSpPr>
        <p:spPr>
          <a:xfrm>
            <a:off x="10820400" y="177800"/>
            <a:ext cx="1016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8000" b="1">
                <a:solidFill>
                  <a:srgbClr val="C8D7F5"/>
                </a:solidFill>
              </a:rPr>
              <a:t>∑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755D476-DA3F-434E-9D40-DAA050EE4BA5}"/>
              </a:ext>
            </a:extLst>
          </p:cNvPr>
          <p:cNvSpPr txBox="1"/>
          <p:nvPr/>
        </p:nvSpPr>
        <p:spPr>
          <a:xfrm>
            <a:off x="279400" y="4889500"/>
            <a:ext cx="1016000" cy="12311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7400" b="1">
                <a:solidFill>
                  <a:srgbClr val="C8D7F5"/>
                </a:solidFill>
              </a:rPr>
              <a:t>√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A5B8BB7-140D-F025-0262-BC48771FD415}"/>
              </a:ext>
            </a:extLst>
          </p:cNvPr>
          <p:cNvSpPr txBox="1"/>
          <p:nvPr/>
        </p:nvSpPr>
        <p:spPr>
          <a:xfrm>
            <a:off x="11023600" y="5270500"/>
            <a:ext cx="1016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800" b="1">
                <a:solidFill>
                  <a:srgbClr val="C8D7F5"/>
                </a:solidFill>
              </a:rPr>
              <a:t>∞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9C97695-6E9B-BA71-25EA-AAFB72966829}"/>
              </a:ext>
            </a:extLst>
          </p:cNvPr>
          <p:cNvSpPr txBox="1"/>
          <p:nvPr/>
        </p:nvSpPr>
        <p:spPr>
          <a:xfrm>
            <a:off x="5715000" y="101600"/>
            <a:ext cx="1016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800" b="1">
                <a:solidFill>
                  <a:srgbClr val="C8D7F5"/>
                </a:solidFill>
              </a:rPr>
              <a:t>÷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F0DCD5-AB46-161A-2338-A0B8F1D52605}"/>
              </a:ext>
            </a:extLst>
          </p:cNvPr>
          <p:cNvSpPr txBox="1"/>
          <p:nvPr/>
        </p:nvSpPr>
        <p:spPr>
          <a:xfrm>
            <a:off x="8890000" y="5715000"/>
            <a:ext cx="1016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400" b="1">
                <a:solidFill>
                  <a:srgbClr val="C8D7F5"/>
                </a:solidFill>
              </a:rPr>
              <a:t>×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1485BD9-F0EF-EB10-8328-EB2BE66F1D71}"/>
              </a:ext>
            </a:extLst>
          </p:cNvPr>
          <p:cNvSpPr txBox="1"/>
          <p:nvPr/>
        </p:nvSpPr>
        <p:spPr>
          <a:xfrm>
            <a:off x="1879600" y="5588000"/>
            <a:ext cx="101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400" b="1">
                <a:solidFill>
                  <a:srgbClr val="C8D7F5"/>
                </a:solidFill>
              </a:rPr>
              <a:t>²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E5285B7-DDE4-C7DF-BD6E-3E4799775102}"/>
              </a:ext>
            </a:extLst>
          </p:cNvPr>
          <p:cNvSpPr txBox="1"/>
          <p:nvPr/>
        </p:nvSpPr>
        <p:spPr>
          <a:xfrm>
            <a:off x="1066800" y="2349500"/>
            <a:ext cx="1016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6200" b="1">
                <a:solidFill>
                  <a:srgbClr val="C8D7F5"/>
                </a:solidFill>
              </a:rPr>
              <a:t>Δ</a:t>
            </a:r>
            <a:endParaRPr lang="pt-BR" sz="6200" b="1">
              <a:solidFill>
                <a:srgbClr val="C8D7F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71E3C10-E17B-627B-E9A7-5497E69B8E52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702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CCDD9C7-84FD-0B0E-CC3B-C74C8CE430A0}"/>
              </a:ext>
            </a:extLst>
          </p:cNvPr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AFDA4C8-A9AA-B5E1-676C-13F6ED55E2BF}"/>
              </a:ext>
            </a:extLst>
          </p:cNvPr>
          <p:cNvSpPr/>
          <p:nvPr/>
        </p:nvSpPr>
        <p:spPr>
          <a:xfrm>
            <a:off x="304800" y="177800"/>
            <a:ext cx="3759200" cy="6096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CC22881-083E-8B93-7BBB-FDDBD76F5150}"/>
              </a:ext>
            </a:extLst>
          </p:cNvPr>
          <p:cNvSpPr txBox="1"/>
          <p:nvPr/>
        </p:nvSpPr>
        <p:spPr>
          <a:xfrm>
            <a:off x="304800" y="177800"/>
            <a:ext cx="375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700" b="1">
                <a:solidFill>
                  <a:srgbClr val="FFFFFF"/>
                </a:solidFill>
              </a:rPr>
              <a:t>Situação-Problema 5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E3966D5-17F6-A963-F8DD-E075B495A113}"/>
              </a:ext>
            </a:extLst>
          </p:cNvPr>
          <p:cNvSpPr txBox="1"/>
          <p:nvPr/>
        </p:nvSpPr>
        <p:spPr>
          <a:xfrm>
            <a:off x="4191000" y="152400"/>
            <a:ext cx="7683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DAB288"/>
                </a:solidFill>
              </a:rPr>
              <a:t>Divisores de um Número  —  6.º Ano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482450F-CF37-A97D-7A57-0BDB688DF500}"/>
              </a:ext>
            </a:extLst>
          </p:cNvPr>
          <p:cNvSpPr/>
          <p:nvPr/>
        </p:nvSpPr>
        <p:spPr>
          <a:xfrm>
            <a:off x="406400" y="1168400"/>
            <a:ext cx="11379200" cy="3619500"/>
          </a:xfrm>
          <a:prstGeom prst="rect">
            <a:avLst/>
          </a:prstGeom>
          <a:solidFill>
            <a:srgbClr val="FFF9EC"/>
          </a:solidFill>
          <a:ln w="25400">
            <a:solidFill>
              <a:srgbClr val="C35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55F6175-0AA8-7DEE-AA1F-B6CF55A73383}"/>
              </a:ext>
            </a:extLst>
          </p:cNvPr>
          <p:cNvSpPr txBox="1"/>
          <p:nvPr/>
        </p:nvSpPr>
        <p:spPr>
          <a:xfrm>
            <a:off x="660400" y="13716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100">
                <a:solidFill>
                  <a:srgbClr val="0A1E5A"/>
                </a:solidFill>
              </a:rPr>
              <a:t>Uma escola comprou 60 lápis para distribuir igualmente entre as turmas, sem sobrar nenhum.
Quais as opções de número de turmas?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8CFD9D4-21B5-F6F2-9D5A-38A6D4CD7116}"/>
              </a:ext>
            </a:extLst>
          </p:cNvPr>
          <p:cNvSpPr/>
          <p:nvPr/>
        </p:nvSpPr>
        <p:spPr>
          <a:xfrm>
            <a:off x="406400" y="4927600"/>
            <a:ext cx="11379200" cy="736600"/>
          </a:xfrm>
          <a:prstGeom prst="rect">
            <a:avLst/>
          </a:prstGeom>
          <a:solidFill>
            <a:srgbClr val="F8FCFF"/>
          </a:solidFill>
          <a:ln w="12700">
            <a:solidFill>
              <a:srgbClr val="C6B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68E8E85-148B-D00F-D8FE-8D10EF16F8DC}"/>
              </a:ext>
            </a:extLst>
          </p:cNvPr>
          <p:cNvSpPr txBox="1"/>
          <p:nvPr/>
        </p:nvSpPr>
        <p:spPr>
          <a:xfrm>
            <a:off x="660400" y="50038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5F697D"/>
                </a:solidFill>
              </a:rPr>
              <a:t>Resposta:  _______________________________________________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C3DA20A-FE3E-DB87-C624-CA9270072284}"/>
              </a:ext>
            </a:extLst>
          </p:cNvPr>
          <p:cNvSpPr txBox="1"/>
          <p:nvPr/>
        </p:nvSpPr>
        <p:spPr>
          <a:xfrm>
            <a:off x="406400" y="5740400"/>
            <a:ext cx="1137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>
                <a:solidFill>
                  <a:srgbClr val="9E8060"/>
                </a:solidFill>
              </a:rPr>
              <a:t>Use os divisores para resolver!</a:t>
            </a:r>
          </a:p>
        </p:txBody>
      </p:sp>
    </p:spTree>
    <p:extLst>
      <p:ext uri="{BB962C8B-B14F-4D97-AF65-F5344CB8AC3E}">
        <p14:creationId xmlns:p14="http://schemas.microsoft.com/office/powerpoint/2010/main" val="2894673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1BAA023-C46E-2B06-6C55-302D935B5F2E}"/>
              </a:ext>
            </a:extLst>
          </p:cNvPr>
          <p:cNvSpPr txBox="1"/>
          <p:nvPr/>
        </p:nvSpPr>
        <p:spPr>
          <a:xfrm>
            <a:off x="482600" y="228600"/>
            <a:ext cx="1016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8800" b="1">
                <a:solidFill>
                  <a:srgbClr val="C8D7F5"/>
                </a:solidFill>
              </a:rPr>
              <a:t>π</a:t>
            </a:r>
            <a:endParaRPr lang="pt-BR" sz="8800" b="1">
              <a:solidFill>
                <a:srgbClr val="C8D7F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90DF8ED-0000-F3C8-2542-1F83A7DABCC5}"/>
              </a:ext>
            </a:extLst>
          </p:cNvPr>
          <p:cNvSpPr txBox="1"/>
          <p:nvPr/>
        </p:nvSpPr>
        <p:spPr>
          <a:xfrm>
            <a:off x="10820400" y="177800"/>
            <a:ext cx="1016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8000" b="1">
                <a:solidFill>
                  <a:srgbClr val="C8D7F5"/>
                </a:solidFill>
              </a:rPr>
              <a:t>∑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1A476A1-F4CF-6DF2-5F02-144FF3656CBC}"/>
              </a:ext>
            </a:extLst>
          </p:cNvPr>
          <p:cNvSpPr txBox="1"/>
          <p:nvPr/>
        </p:nvSpPr>
        <p:spPr>
          <a:xfrm>
            <a:off x="279400" y="4889500"/>
            <a:ext cx="1016000" cy="12311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7400" b="1">
                <a:solidFill>
                  <a:srgbClr val="C8D7F5"/>
                </a:solidFill>
              </a:rPr>
              <a:t>√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EA7DDC7-502D-C847-8E5F-1CFA64171A72}"/>
              </a:ext>
            </a:extLst>
          </p:cNvPr>
          <p:cNvSpPr txBox="1"/>
          <p:nvPr/>
        </p:nvSpPr>
        <p:spPr>
          <a:xfrm>
            <a:off x="11023600" y="5270500"/>
            <a:ext cx="1016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800" b="1">
                <a:solidFill>
                  <a:srgbClr val="C8D7F5"/>
                </a:solidFill>
              </a:rPr>
              <a:t>∞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0E71248-7909-A338-D91E-4D0A0F956DA5}"/>
              </a:ext>
            </a:extLst>
          </p:cNvPr>
          <p:cNvSpPr txBox="1"/>
          <p:nvPr/>
        </p:nvSpPr>
        <p:spPr>
          <a:xfrm>
            <a:off x="5715000" y="101600"/>
            <a:ext cx="1016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800" b="1">
                <a:solidFill>
                  <a:srgbClr val="C8D7F5"/>
                </a:solidFill>
              </a:rPr>
              <a:t>÷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0AE5A99-9A40-B2D1-C0F5-906B84386682}"/>
              </a:ext>
            </a:extLst>
          </p:cNvPr>
          <p:cNvSpPr txBox="1"/>
          <p:nvPr/>
        </p:nvSpPr>
        <p:spPr>
          <a:xfrm>
            <a:off x="8890000" y="5715000"/>
            <a:ext cx="1016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400" b="1">
                <a:solidFill>
                  <a:srgbClr val="C8D7F5"/>
                </a:solidFill>
              </a:rPr>
              <a:t>×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9C8A1E9-D164-9467-C3BC-FB51619A1FFA}"/>
              </a:ext>
            </a:extLst>
          </p:cNvPr>
          <p:cNvSpPr txBox="1"/>
          <p:nvPr/>
        </p:nvSpPr>
        <p:spPr>
          <a:xfrm>
            <a:off x="1879600" y="5588000"/>
            <a:ext cx="101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400" b="1">
                <a:solidFill>
                  <a:srgbClr val="C8D7F5"/>
                </a:solidFill>
              </a:rPr>
              <a:t>²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1E62A8C-EACF-3AC7-6E4C-59F6FE5E4D30}"/>
              </a:ext>
            </a:extLst>
          </p:cNvPr>
          <p:cNvSpPr txBox="1"/>
          <p:nvPr/>
        </p:nvSpPr>
        <p:spPr>
          <a:xfrm>
            <a:off x="1066800" y="2349500"/>
            <a:ext cx="1016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6200" b="1">
                <a:solidFill>
                  <a:srgbClr val="C8D7F5"/>
                </a:solidFill>
              </a:rPr>
              <a:t>Δ</a:t>
            </a:r>
            <a:endParaRPr lang="pt-BR" sz="6200" b="1">
              <a:solidFill>
                <a:srgbClr val="C8D7F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00389E1-137F-B535-9DD8-A8BC8B59C7FB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702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A55AC93-8FC8-5F6E-B466-EA9636E8D3E1}"/>
              </a:ext>
            </a:extLst>
          </p:cNvPr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3D6A5D1-08C2-4E9D-A988-06F259E1CAF6}"/>
              </a:ext>
            </a:extLst>
          </p:cNvPr>
          <p:cNvSpPr/>
          <p:nvPr/>
        </p:nvSpPr>
        <p:spPr>
          <a:xfrm>
            <a:off x="304800" y="177800"/>
            <a:ext cx="3759200" cy="6096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C5DBF1B-5374-3140-9E88-C18E13A3C8F2}"/>
              </a:ext>
            </a:extLst>
          </p:cNvPr>
          <p:cNvSpPr txBox="1"/>
          <p:nvPr/>
        </p:nvSpPr>
        <p:spPr>
          <a:xfrm>
            <a:off x="304800" y="177800"/>
            <a:ext cx="375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700" b="1">
                <a:solidFill>
                  <a:srgbClr val="FFFFFF"/>
                </a:solidFill>
              </a:rPr>
              <a:t>Situação-Problema 6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158C722-324E-28F8-CBBD-C07BF5C830C2}"/>
              </a:ext>
            </a:extLst>
          </p:cNvPr>
          <p:cNvSpPr txBox="1"/>
          <p:nvPr/>
        </p:nvSpPr>
        <p:spPr>
          <a:xfrm>
            <a:off x="4191000" y="152400"/>
            <a:ext cx="7683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DAB288"/>
                </a:solidFill>
              </a:rPr>
              <a:t>Divisores de um Número  —  6.º Ano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7015C3C-9F54-DB01-1A44-DEAE27515553}"/>
              </a:ext>
            </a:extLst>
          </p:cNvPr>
          <p:cNvSpPr/>
          <p:nvPr/>
        </p:nvSpPr>
        <p:spPr>
          <a:xfrm>
            <a:off x="406400" y="1168400"/>
            <a:ext cx="11379200" cy="3619500"/>
          </a:xfrm>
          <a:prstGeom prst="rect">
            <a:avLst/>
          </a:prstGeom>
          <a:solidFill>
            <a:srgbClr val="FFF9EC"/>
          </a:solidFill>
          <a:ln w="25400">
            <a:solidFill>
              <a:srgbClr val="C35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8F6D937-B9A9-B090-4342-AD80C807BF90}"/>
              </a:ext>
            </a:extLst>
          </p:cNvPr>
          <p:cNvSpPr txBox="1"/>
          <p:nvPr/>
        </p:nvSpPr>
        <p:spPr>
          <a:xfrm>
            <a:off x="660400" y="13716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100">
                <a:solidFill>
                  <a:srgbClr val="0A1E5A"/>
                </a:solidFill>
              </a:rPr>
              <a:t>Uma loja recebeu 72 caixas de chocolate e quer organizá-las em fileiras iguais.
De quantas formas diferentes pode fazer isso? Liste todas.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8949BE8-5954-6F91-ECFF-D533640F409B}"/>
              </a:ext>
            </a:extLst>
          </p:cNvPr>
          <p:cNvSpPr/>
          <p:nvPr/>
        </p:nvSpPr>
        <p:spPr>
          <a:xfrm>
            <a:off x="406400" y="4927600"/>
            <a:ext cx="11379200" cy="736600"/>
          </a:xfrm>
          <a:prstGeom prst="rect">
            <a:avLst/>
          </a:prstGeom>
          <a:solidFill>
            <a:srgbClr val="F8FCFF"/>
          </a:solidFill>
          <a:ln w="12700">
            <a:solidFill>
              <a:srgbClr val="C6B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AE304B6-20A8-BE7D-4A22-F01519A1ABFF}"/>
              </a:ext>
            </a:extLst>
          </p:cNvPr>
          <p:cNvSpPr txBox="1"/>
          <p:nvPr/>
        </p:nvSpPr>
        <p:spPr>
          <a:xfrm>
            <a:off x="660400" y="50038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5F697D"/>
                </a:solidFill>
              </a:rPr>
              <a:t>Resposta:  _______________________________________________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9D362E3-3DF9-9A3F-D3C8-16415561CD63}"/>
              </a:ext>
            </a:extLst>
          </p:cNvPr>
          <p:cNvSpPr txBox="1"/>
          <p:nvPr/>
        </p:nvSpPr>
        <p:spPr>
          <a:xfrm>
            <a:off x="406400" y="5740400"/>
            <a:ext cx="1137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>
                <a:solidFill>
                  <a:srgbClr val="9E8060"/>
                </a:solidFill>
              </a:rPr>
              <a:t>Use os divisores para resolver!</a:t>
            </a:r>
          </a:p>
        </p:txBody>
      </p:sp>
    </p:spTree>
    <p:extLst>
      <p:ext uri="{BB962C8B-B14F-4D97-AF65-F5344CB8AC3E}">
        <p14:creationId xmlns:p14="http://schemas.microsoft.com/office/powerpoint/2010/main" val="694813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B0E14E1-FED0-6A7B-3A98-E65E88F5164E}"/>
              </a:ext>
            </a:extLst>
          </p:cNvPr>
          <p:cNvSpPr txBox="1"/>
          <p:nvPr/>
        </p:nvSpPr>
        <p:spPr>
          <a:xfrm>
            <a:off x="482600" y="228600"/>
            <a:ext cx="1016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8800" b="1">
                <a:solidFill>
                  <a:srgbClr val="C8D7F5"/>
                </a:solidFill>
              </a:rPr>
              <a:t>π</a:t>
            </a:r>
            <a:endParaRPr lang="pt-BR" sz="8800" b="1">
              <a:solidFill>
                <a:srgbClr val="C8D7F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19D779B-E4B7-C158-E64F-EFB5873B0C0F}"/>
              </a:ext>
            </a:extLst>
          </p:cNvPr>
          <p:cNvSpPr txBox="1"/>
          <p:nvPr/>
        </p:nvSpPr>
        <p:spPr>
          <a:xfrm>
            <a:off x="10820400" y="177800"/>
            <a:ext cx="1016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8000" b="1">
                <a:solidFill>
                  <a:srgbClr val="C8D7F5"/>
                </a:solidFill>
              </a:rPr>
              <a:t>∑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62F8713-02C8-395F-8BA1-F8E08038B8A7}"/>
              </a:ext>
            </a:extLst>
          </p:cNvPr>
          <p:cNvSpPr txBox="1"/>
          <p:nvPr/>
        </p:nvSpPr>
        <p:spPr>
          <a:xfrm>
            <a:off x="279400" y="4889500"/>
            <a:ext cx="1016000" cy="12311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7400" b="1">
                <a:solidFill>
                  <a:srgbClr val="C8D7F5"/>
                </a:solidFill>
              </a:rPr>
              <a:t>√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6E9A085-ACCE-4593-8210-541E2D36E287}"/>
              </a:ext>
            </a:extLst>
          </p:cNvPr>
          <p:cNvSpPr txBox="1"/>
          <p:nvPr/>
        </p:nvSpPr>
        <p:spPr>
          <a:xfrm>
            <a:off x="11023600" y="5270500"/>
            <a:ext cx="1016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800" b="1">
                <a:solidFill>
                  <a:srgbClr val="C8D7F5"/>
                </a:solidFill>
              </a:rPr>
              <a:t>∞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402D23C-3B64-AB46-8E96-71C2A53F6A11}"/>
              </a:ext>
            </a:extLst>
          </p:cNvPr>
          <p:cNvSpPr txBox="1"/>
          <p:nvPr/>
        </p:nvSpPr>
        <p:spPr>
          <a:xfrm>
            <a:off x="5715000" y="101600"/>
            <a:ext cx="1016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800" b="1">
                <a:solidFill>
                  <a:srgbClr val="C8D7F5"/>
                </a:solidFill>
              </a:rPr>
              <a:t>÷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1EEA50A-8E7E-E3D9-EF6E-97C60E834AB5}"/>
              </a:ext>
            </a:extLst>
          </p:cNvPr>
          <p:cNvSpPr txBox="1"/>
          <p:nvPr/>
        </p:nvSpPr>
        <p:spPr>
          <a:xfrm>
            <a:off x="8890000" y="5715000"/>
            <a:ext cx="1016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400" b="1">
                <a:solidFill>
                  <a:srgbClr val="C8D7F5"/>
                </a:solidFill>
              </a:rPr>
              <a:t>×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44BE9D1-26BA-F4EA-9868-ACD07BF81A67}"/>
              </a:ext>
            </a:extLst>
          </p:cNvPr>
          <p:cNvSpPr txBox="1"/>
          <p:nvPr/>
        </p:nvSpPr>
        <p:spPr>
          <a:xfrm>
            <a:off x="1879600" y="5588000"/>
            <a:ext cx="101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400" b="1">
                <a:solidFill>
                  <a:srgbClr val="C8D7F5"/>
                </a:solidFill>
              </a:rPr>
              <a:t>²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5037D69-36A1-000B-B6DA-4ED2C71489DD}"/>
              </a:ext>
            </a:extLst>
          </p:cNvPr>
          <p:cNvSpPr txBox="1"/>
          <p:nvPr/>
        </p:nvSpPr>
        <p:spPr>
          <a:xfrm>
            <a:off x="1066800" y="2349500"/>
            <a:ext cx="1016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6200" b="1">
                <a:solidFill>
                  <a:srgbClr val="C8D7F5"/>
                </a:solidFill>
              </a:rPr>
              <a:t>Δ</a:t>
            </a:r>
            <a:endParaRPr lang="pt-BR" sz="6200" b="1">
              <a:solidFill>
                <a:srgbClr val="C8D7F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DDFF3A7-917B-20EA-A526-E2B487D1F1D1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rgbClr val="702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5772ED2-B476-7BB0-DABC-5AD72F9BEC2F}"/>
              </a:ext>
            </a:extLst>
          </p:cNvPr>
          <p:cNvSpPr/>
          <p:nvPr/>
        </p:nvSpPr>
        <p:spPr>
          <a:xfrm>
            <a:off x="0" y="965200"/>
            <a:ext cx="12192000" cy="635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618CC5F-2C5A-64B0-5F64-175C2D1A6DC7}"/>
              </a:ext>
            </a:extLst>
          </p:cNvPr>
          <p:cNvSpPr/>
          <p:nvPr/>
        </p:nvSpPr>
        <p:spPr>
          <a:xfrm>
            <a:off x="304800" y="177800"/>
            <a:ext cx="3759200" cy="6096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D492B76-5C1C-9520-EBF5-D7D9C310929A}"/>
              </a:ext>
            </a:extLst>
          </p:cNvPr>
          <p:cNvSpPr txBox="1"/>
          <p:nvPr/>
        </p:nvSpPr>
        <p:spPr>
          <a:xfrm>
            <a:off x="304800" y="177800"/>
            <a:ext cx="375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700" b="1">
                <a:solidFill>
                  <a:srgbClr val="FFFFFF"/>
                </a:solidFill>
              </a:rPr>
              <a:t>Situação-Problema 7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C5DBA34-BAE9-F447-CAAB-46311D93B257}"/>
              </a:ext>
            </a:extLst>
          </p:cNvPr>
          <p:cNvSpPr txBox="1"/>
          <p:nvPr/>
        </p:nvSpPr>
        <p:spPr>
          <a:xfrm>
            <a:off x="4191000" y="152400"/>
            <a:ext cx="7683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DAB288"/>
                </a:solidFill>
              </a:rPr>
              <a:t>Divisores de um Número  —  6.º Ano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2AEA2A5-6C4F-C45C-7DCE-336226455476}"/>
              </a:ext>
            </a:extLst>
          </p:cNvPr>
          <p:cNvSpPr/>
          <p:nvPr/>
        </p:nvSpPr>
        <p:spPr>
          <a:xfrm>
            <a:off x="406400" y="1168400"/>
            <a:ext cx="11379200" cy="3619500"/>
          </a:xfrm>
          <a:prstGeom prst="rect">
            <a:avLst/>
          </a:prstGeom>
          <a:solidFill>
            <a:srgbClr val="FFF9EC"/>
          </a:solidFill>
          <a:ln w="25400">
            <a:solidFill>
              <a:srgbClr val="C35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E8B5EDA-D7BD-F24B-21D5-8EB170E04145}"/>
              </a:ext>
            </a:extLst>
          </p:cNvPr>
          <p:cNvSpPr txBox="1"/>
          <p:nvPr/>
        </p:nvSpPr>
        <p:spPr>
          <a:xfrm>
            <a:off x="660400" y="13716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2100">
                <a:solidFill>
                  <a:srgbClr val="0A1E5A"/>
                </a:solidFill>
              </a:rPr>
              <a:t>O ginásio tem 100 cadeiras para organizar em fileiras com o mesmo número de cadeiras.
Quais as possibilidades? (fileiras com mais de 1 e menos de 100 cadeiras)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34FB27F-6B92-C04A-FCC1-1004A61B5273}"/>
              </a:ext>
            </a:extLst>
          </p:cNvPr>
          <p:cNvSpPr/>
          <p:nvPr/>
        </p:nvSpPr>
        <p:spPr>
          <a:xfrm>
            <a:off x="406400" y="4927600"/>
            <a:ext cx="11379200" cy="736600"/>
          </a:xfrm>
          <a:prstGeom prst="rect">
            <a:avLst/>
          </a:prstGeom>
          <a:solidFill>
            <a:srgbClr val="F8FCFF"/>
          </a:solidFill>
          <a:ln w="12700">
            <a:solidFill>
              <a:srgbClr val="C6B2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122F645-61DD-7D48-ACD8-9DADE9A3A086}"/>
              </a:ext>
            </a:extLst>
          </p:cNvPr>
          <p:cNvSpPr txBox="1"/>
          <p:nvPr/>
        </p:nvSpPr>
        <p:spPr>
          <a:xfrm>
            <a:off x="660400" y="5003800"/>
            <a:ext cx="1087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pt-BR" sz="1700">
                <a:solidFill>
                  <a:srgbClr val="5F697D"/>
                </a:solidFill>
              </a:rPr>
              <a:t>Resposta:  _______________________________________________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3AD61D3-6548-B902-0B46-195467F36CF7}"/>
              </a:ext>
            </a:extLst>
          </p:cNvPr>
          <p:cNvSpPr txBox="1"/>
          <p:nvPr/>
        </p:nvSpPr>
        <p:spPr>
          <a:xfrm>
            <a:off x="406400" y="5740400"/>
            <a:ext cx="1137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1500">
                <a:solidFill>
                  <a:srgbClr val="9E8060"/>
                </a:solidFill>
              </a:rPr>
              <a:t>Use os divisores para resolver!</a:t>
            </a:r>
          </a:p>
        </p:txBody>
      </p:sp>
    </p:spTree>
    <p:extLst>
      <p:ext uri="{BB962C8B-B14F-4D97-AF65-F5344CB8AC3E}">
        <p14:creationId xmlns:p14="http://schemas.microsoft.com/office/powerpoint/2010/main" val="972816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7C90DCF-60A7-15FD-1B33-BCAD4E0B9A05}"/>
              </a:ext>
            </a:extLst>
          </p:cNvPr>
          <p:cNvSpPr txBox="1"/>
          <p:nvPr/>
        </p:nvSpPr>
        <p:spPr>
          <a:xfrm>
            <a:off x="482600" y="228600"/>
            <a:ext cx="1016000" cy="144655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8800" b="1">
                <a:solidFill>
                  <a:srgbClr val="C8D7F5"/>
                </a:solidFill>
              </a:rPr>
              <a:t>π</a:t>
            </a:r>
            <a:endParaRPr lang="pt-BR" sz="8800" b="1">
              <a:solidFill>
                <a:srgbClr val="C8D7F5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653E48A-24AF-CCE1-08FD-1BB68B9CB0E9}"/>
              </a:ext>
            </a:extLst>
          </p:cNvPr>
          <p:cNvSpPr txBox="1"/>
          <p:nvPr/>
        </p:nvSpPr>
        <p:spPr>
          <a:xfrm>
            <a:off x="10820400" y="177800"/>
            <a:ext cx="1016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8000" b="1">
                <a:solidFill>
                  <a:srgbClr val="C8D7F5"/>
                </a:solidFill>
              </a:rPr>
              <a:t>∑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BAE858F-788D-27EE-7021-3FE9C4D70F1B}"/>
              </a:ext>
            </a:extLst>
          </p:cNvPr>
          <p:cNvSpPr txBox="1"/>
          <p:nvPr/>
        </p:nvSpPr>
        <p:spPr>
          <a:xfrm>
            <a:off x="279400" y="4889500"/>
            <a:ext cx="1016000" cy="12311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7400" b="1">
                <a:solidFill>
                  <a:srgbClr val="C8D7F5"/>
                </a:solidFill>
              </a:rPr>
              <a:t>√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6F56CFC-268A-E008-50BE-07F26DD1DC04}"/>
              </a:ext>
            </a:extLst>
          </p:cNvPr>
          <p:cNvSpPr txBox="1"/>
          <p:nvPr/>
        </p:nvSpPr>
        <p:spPr>
          <a:xfrm>
            <a:off x="11023600" y="5270500"/>
            <a:ext cx="1016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800" b="1">
                <a:solidFill>
                  <a:srgbClr val="C8D7F5"/>
                </a:solidFill>
              </a:rPr>
              <a:t>∞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B286184-6A43-A52A-5AFE-063BF641D39E}"/>
              </a:ext>
            </a:extLst>
          </p:cNvPr>
          <p:cNvSpPr txBox="1"/>
          <p:nvPr/>
        </p:nvSpPr>
        <p:spPr>
          <a:xfrm>
            <a:off x="5715000" y="101600"/>
            <a:ext cx="1016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800" b="1">
                <a:solidFill>
                  <a:srgbClr val="C8D7F5"/>
                </a:solidFill>
              </a:rPr>
              <a:t>÷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67CC02A-CF0C-EBE3-3315-76184790A162}"/>
              </a:ext>
            </a:extLst>
          </p:cNvPr>
          <p:cNvSpPr txBox="1"/>
          <p:nvPr/>
        </p:nvSpPr>
        <p:spPr>
          <a:xfrm>
            <a:off x="8890000" y="5715000"/>
            <a:ext cx="1016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6400" b="1">
                <a:solidFill>
                  <a:srgbClr val="C8D7F5"/>
                </a:solidFill>
              </a:rPr>
              <a:t>×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9EB9519-8AA6-0E18-6D71-230F0403F6D9}"/>
              </a:ext>
            </a:extLst>
          </p:cNvPr>
          <p:cNvSpPr txBox="1"/>
          <p:nvPr/>
        </p:nvSpPr>
        <p:spPr>
          <a:xfrm>
            <a:off x="1879600" y="5588000"/>
            <a:ext cx="101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5400" b="1">
                <a:solidFill>
                  <a:srgbClr val="C8D7F5"/>
                </a:solidFill>
              </a:rPr>
              <a:t>²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F1F162E-A668-FCD5-4648-3874B3FBC284}"/>
              </a:ext>
            </a:extLst>
          </p:cNvPr>
          <p:cNvSpPr txBox="1"/>
          <p:nvPr/>
        </p:nvSpPr>
        <p:spPr>
          <a:xfrm>
            <a:off x="1066800" y="2349500"/>
            <a:ext cx="1016000" cy="10464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l-GR" sz="6200" b="1">
                <a:solidFill>
                  <a:srgbClr val="C8D7F5"/>
                </a:solidFill>
              </a:rPr>
              <a:t>Δ</a:t>
            </a:r>
            <a:endParaRPr lang="pt-BR" sz="6200" b="1">
              <a:solidFill>
                <a:srgbClr val="C8D7F5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BDDDD46-C976-8363-849B-6F4C3954839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43C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D9340AA-1A71-DD52-C72A-2B584BD2404A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143CA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1CA2003-6131-9482-B139-20321B0F8B93}"/>
              </a:ext>
            </a:extLst>
          </p:cNvPr>
          <p:cNvSpPr/>
          <p:nvPr/>
        </p:nvSpPr>
        <p:spPr>
          <a:xfrm>
            <a:off x="2286000" y="1879600"/>
            <a:ext cx="7620000" cy="1041400"/>
          </a:xfrm>
          <a:prstGeom prst="rect">
            <a:avLst/>
          </a:prstGeom>
          <a:solidFill>
            <a:srgbClr val="0A1E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0D4228-3A97-D4C0-A0D3-C4AF3A3DADAA}"/>
              </a:ext>
            </a:extLst>
          </p:cNvPr>
          <p:cNvSpPr txBox="1"/>
          <p:nvPr/>
        </p:nvSpPr>
        <p:spPr>
          <a:xfrm>
            <a:off x="2286000" y="18796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4400" b="1">
                <a:solidFill>
                  <a:srgbClr val="FFFFFF"/>
                </a:solidFill>
              </a:rPr>
              <a:t>Bom trabalho!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4D2BB4A-7022-5ACA-AAFE-157F6BEC0B34}"/>
              </a:ext>
            </a:extLst>
          </p:cNvPr>
          <p:cNvSpPr/>
          <p:nvPr/>
        </p:nvSpPr>
        <p:spPr>
          <a:xfrm>
            <a:off x="2514600" y="2946400"/>
            <a:ext cx="7162800" cy="635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68E7D18-6EA0-0A3B-34B6-5F3A16D75A1F}"/>
              </a:ext>
            </a:extLst>
          </p:cNvPr>
          <p:cNvSpPr txBox="1"/>
          <p:nvPr/>
        </p:nvSpPr>
        <p:spPr>
          <a:xfrm>
            <a:off x="1651000" y="3175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600">
                <a:solidFill>
                  <a:srgbClr val="143CA0"/>
                </a:solidFill>
              </a:rPr>
              <a:t>Você concluiu a Aula 02 — Divisores!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5381650-4AFB-8BB2-2E26-20153720BD9F}"/>
              </a:ext>
            </a:extLst>
          </p:cNvPr>
          <p:cNvSpPr txBox="1"/>
          <p:nvPr/>
        </p:nvSpPr>
        <p:spPr>
          <a:xfrm>
            <a:off x="1651000" y="39624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000">
                <a:solidFill>
                  <a:srgbClr val="166E2A"/>
                </a:solidFill>
              </a:rPr>
              <a:t>Os divisores são FINITOS — agora você sabe encontrá-los!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5DA2977-EACF-1561-62F6-E3054BCB0864}"/>
              </a:ext>
            </a:extLst>
          </p:cNvPr>
          <p:cNvSpPr/>
          <p:nvPr/>
        </p:nvSpPr>
        <p:spPr>
          <a:xfrm>
            <a:off x="3581400" y="5016500"/>
            <a:ext cx="5029200" cy="736600"/>
          </a:xfrm>
          <a:prstGeom prst="rect">
            <a:avLst/>
          </a:prstGeom>
          <a:solidFill>
            <a:srgbClr val="C35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9D76AC3-E267-C7C9-CB11-1C6CC602F040}"/>
              </a:ext>
            </a:extLst>
          </p:cNvPr>
          <p:cNvSpPr txBox="1"/>
          <p:nvPr/>
        </p:nvSpPr>
        <p:spPr>
          <a:xfrm>
            <a:off x="3581400" y="5016500"/>
            <a:ext cx="502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pt-BR" sz="2200" b="1">
                <a:solidFill>
                  <a:srgbClr val="FFFFFF"/>
                </a:solidFill>
              </a:rPr>
              <a:t>Continue estudando!</a:t>
            </a:r>
          </a:p>
        </p:txBody>
      </p:sp>
    </p:spTree>
    <p:extLst>
      <p:ext uri="{BB962C8B-B14F-4D97-AF65-F5344CB8AC3E}">
        <p14:creationId xmlns:p14="http://schemas.microsoft.com/office/powerpoint/2010/main" val="18278643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1071</Words>
  <Application>Microsoft Office PowerPoint</Application>
  <PresentationFormat>Personalizar</PresentationFormat>
  <Paragraphs>252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Mikael Maronez</dc:creator>
  <cp:lastModifiedBy>Mikael Maronez</cp:lastModifiedBy>
  <cp:revision>1</cp:revision>
  <dcterms:created xsi:type="dcterms:W3CDTF">2026-06-08T14:17:39Z</dcterms:created>
  <dcterms:modified xsi:type="dcterms:W3CDTF">2026-06-08T14:17:39Z</dcterms:modified>
</cp:coreProperties>
</file>