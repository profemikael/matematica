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0" y="0"/>
            <a:ext cx="4318000" cy="6858000"/>
          </a:xfrm>
          <a:prstGeom prst="rect">
            <a:avLst/>
          </a:prstGeom>
          <a:solidFill>
            <a:srgbClr val="050C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4318000" y="0"/>
            <a:ext cx="7874000" cy="76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98500" y="1651000"/>
            <a:ext cx="2794000" cy="247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00">
                <a:solidFill>
                  <a:srgbClr val="102A5F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15500">
              <a:solidFill>
                <a:srgbClr val="102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444500" y="4889500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163773"/>
                </a:solidFill>
                <a:latin typeface="Calibri"/>
                <a:ea typeface="Calibri"/>
                <a:cs typeface="Calibri"/>
                <a:sym typeface="Calibri"/>
              </a:rPr>
              <a:t>∑  √  ∞  α  β</a:t>
            </a:r>
            <a:endParaRPr b="1" sz="1800">
              <a:solidFill>
                <a:srgbClr val="1637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4546600" y="736600"/>
            <a:ext cx="3746500" cy="508000"/>
          </a:xfrm>
          <a:prstGeom prst="rect">
            <a:avLst/>
          </a:prstGeom>
          <a:solidFill>
            <a:srgbClr val="143478"/>
          </a:solidFill>
          <a:ln cap="flat" cmpd="sng" w="1905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4572000" y="812800"/>
            <a:ext cx="36957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MATEMÁTICA</a:t>
            </a:r>
            <a:r>
              <a:rPr b="1" lang="pt-BR" sz="13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  —  6. ANO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4546600" y="1422400"/>
            <a:ext cx="7493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b="1" lang="pt-BR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4546600" y="2082800"/>
            <a:ext cx="7493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b="1" lang="pt-BR" sz="52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endParaRPr/>
          </a:p>
        </p:txBody>
      </p:sp>
      <p:cxnSp>
        <p:nvCxnSpPr>
          <p:cNvPr id="110" name="Google Shape;110;p13"/>
          <p:cNvCxnSpPr/>
          <p:nvPr/>
        </p:nvCxnSpPr>
        <p:spPr>
          <a:xfrm>
            <a:off x="4572000" y="3048000"/>
            <a:ext cx="71120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1" name="Google Shape;111;p13"/>
          <p:cNvSpPr txBox="1"/>
          <p:nvPr/>
        </p:nvSpPr>
        <p:spPr>
          <a:xfrm>
            <a:off x="4546600" y="3200400"/>
            <a:ext cx="7112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Prof. Mikael   |   2. Trimestre   |  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635000" y="330200"/>
            <a:ext cx="1092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b="1" lang="pt-BR" sz="36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b="1" lang="pt-BR" sz="36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36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b="1" lang="pt-BR" sz="36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635000" y="1117600"/>
            <a:ext cx="10922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um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os resultados que obtemos ao multiplicar esse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por 0, 1, 2, 3, 4 e assim por diante.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635000" y="1955800"/>
            <a:ext cx="10922000" cy="965200"/>
          </a:xfrm>
          <a:prstGeom prst="rect">
            <a:avLst/>
          </a:prstGeom>
          <a:solidFill>
            <a:srgbClr val="0F285A"/>
          </a:solidFill>
          <a:ln cap="flat" cmpd="sng" w="1905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812800" y="2108200"/>
            <a:ext cx="10566400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DE047"/>
                </a:solidFill>
                <a:latin typeface="Calibri"/>
                <a:ea typeface="Calibri"/>
                <a:cs typeface="Calibri"/>
                <a:sym typeface="Calibri"/>
              </a:rPr>
              <a:t>Regra: para encontrar os </a:t>
            </a:r>
            <a:r>
              <a:rPr lang="pt-BR" sz="1700">
                <a:solidFill>
                  <a:srgbClr val="FDE047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1700">
                <a:solidFill>
                  <a:srgbClr val="FDE047"/>
                </a:solidFill>
                <a:latin typeface="Calibri"/>
                <a:ea typeface="Calibri"/>
                <a:cs typeface="Calibri"/>
                <a:sym typeface="Calibri"/>
              </a:rPr>
              <a:t>, basta multiplicar o </a:t>
            </a:r>
            <a:r>
              <a:rPr lang="pt-BR" sz="1700">
                <a:solidFill>
                  <a:srgbClr val="FDE047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pt-BR" sz="1700">
                <a:solidFill>
                  <a:srgbClr val="FDE047"/>
                </a:solidFill>
                <a:latin typeface="Calibri"/>
                <a:ea typeface="Calibri"/>
                <a:cs typeface="Calibri"/>
                <a:sym typeface="Calibri"/>
              </a:rPr>
              <a:t> pelos naturais: 0, 1, 2, 3, 4, 5...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635000" y="3098800"/>
            <a:ext cx="1092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outro quando aparece na tabuada desse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635000" y="3657600"/>
            <a:ext cx="10922000" cy="736600"/>
          </a:xfrm>
          <a:prstGeom prst="rect">
            <a:avLst/>
          </a:prstGeom>
          <a:solidFill>
            <a:srgbClr val="0A3219"/>
          </a:solidFill>
          <a:ln cap="flat" cmpd="sng" w="19050">
            <a:solidFill>
              <a:srgbClr val="22965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812800" y="3810000"/>
            <a:ext cx="1056640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Exemplo:  12 é </a:t>
            </a:r>
            <a:r>
              <a:rPr b="1" lang="pt-BR" sz="21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b="1" lang="pt-BR" sz="21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 de 3  — porque  3 x 4 = 12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635000" y="4521200"/>
            <a:ext cx="10922000" cy="736600"/>
          </a:xfrm>
          <a:prstGeom prst="rect">
            <a:avLst/>
          </a:prstGeom>
          <a:solidFill>
            <a:srgbClr val="370F0F"/>
          </a:solidFill>
          <a:ln cap="flat" cmpd="sng" w="19050">
            <a:solidFill>
              <a:srgbClr val="B4282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812800" y="4673600"/>
            <a:ext cx="1056640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11 </a:t>
            </a:r>
            <a:r>
              <a:rPr b="1" lang="pt-BR" sz="21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1" lang="pt-BR" sz="21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b="1" lang="pt-BR" sz="21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b="1" lang="pt-BR" sz="21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de 3 — nao aparece na tabuada do 3.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35000" y="5486400"/>
            <a:ext cx="10922000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7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Dica: pense sempre na tabuada do divisor!</a:t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635000" y="5486400"/>
            <a:ext cx="10922000" cy="812800"/>
          </a:xfrm>
          <a:prstGeom prst="rect">
            <a:avLst/>
          </a:prstGeom>
          <a:solidFill>
            <a:srgbClr val="143478"/>
          </a:solidFill>
          <a:ln cap="flat" cmpd="sng" w="25400">
            <a:solidFill>
              <a:srgbClr val="FB923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qualquer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natural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pt-BR" sz="22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INFINITOS!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635000" y="279400"/>
            <a:ext cx="109220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Exemplos de M</a:t>
            </a:r>
            <a:r>
              <a:rPr b="1" lang="pt-BR" sz="34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últiplos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635000" y="965200"/>
            <a:ext cx="2349500" cy="558800"/>
          </a:xfrm>
          <a:prstGeom prst="rect">
            <a:avLst/>
          </a:prstGeom>
          <a:solidFill>
            <a:srgbClr val="1E50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660400" y="1016000"/>
            <a:ext cx="22987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últiplos</a:t>
            </a: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2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3048000" y="965200"/>
            <a:ext cx="8636000" cy="558800"/>
          </a:xfrm>
          <a:prstGeom prst="rect">
            <a:avLst/>
          </a:prstGeom>
          <a:solidFill>
            <a:srgbClr val="0E1E3C"/>
          </a:solidFill>
          <a:ln cap="flat" cmpd="sng" w="12700">
            <a:solidFill>
              <a:srgbClr val="2850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3200400" y="1016000"/>
            <a:ext cx="8382000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0, 2, 4, 6, 8, 10, 12, 14, 16, 18, 20 ...</a:t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635000" y="1625600"/>
            <a:ext cx="2349500" cy="558800"/>
          </a:xfrm>
          <a:prstGeom prst="rect">
            <a:avLst/>
          </a:prstGeom>
          <a:solidFill>
            <a:srgbClr val="148C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660400" y="1676400"/>
            <a:ext cx="22987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últiplos</a:t>
            </a: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3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3048000" y="1625600"/>
            <a:ext cx="8636000" cy="558800"/>
          </a:xfrm>
          <a:prstGeom prst="rect">
            <a:avLst/>
          </a:prstGeom>
          <a:solidFill>
            <a:srgbClr val="0E1E3C"/>
          </a:solidFill>
          <a:ln cap="flat" cmpd="sng" w="12700">
            <a:solidFill>
              <a:srgbClr val="2850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3200400" y="1676400"/>
            <a:ext cx="8382000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0, 3, 6, 9, 12, 15, 18, 21, 24, 27, 30 ...</a:t>
            </a: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635000" y="2286000"/>
            <a:ext cx="2349500" cy="558800"/>
          </a:xfrm>
          <a:prstGeom prst="rect">
            <a:avLst/>
          </a:prstGeom>
          <a:solidFill>
            <a:srgbClr val="9650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660400" y="2336800"/>
            <a:ext cx="22987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últiplos</a:t>
            </a: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5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3048000" y="2286000"/>
            <a:ext cx="8636000" cy="558800"/>
          </a:xfrm>
          <a:prstGeom prst="rect">
            <a:avLst/>
          </a:prstGeom>
          <a:solidFill>
            <a:srgbClr val="0E1E3C"/>
          </a:solidFill>
          <a:ln cap="flat" cmpd="sng" w="12700">
            <a:solidFill>
              <a:srgbClr val="2850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3200400" y="2336800"/>
            <a:ext cx="8382000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0, 5, 10, 15, 20, 25, 30, 35, 40, 45, 50 ...</a:t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635000" y="2946400"/>
            <a:ext cx="2349500" cy="558800"/>
          </a:xfrm>
          <a:prstGeom prst="rect">
            <a:avLst/>
          </a:prstGeom>
          <a:solidFill>
            <a:srgbClr val="641E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660400" y="2997200"/>
            <a:ext cx="22987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últiplos</a:t>
            </a:r>
            <a:r>
              <a:rPr b="1" lang="pt-BR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10</a:t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3048000" y="2946400"/>
            <a:ext cx="8636000" cy="558800"/>
          </a:xfrm>
          <a:prstGeom prst="rect">
            <a:avLst/>
          </a:prstGeom>
          <a:solidFill>
            <a:srgbClr val="0E1E3C"/>
          </a:solidFill>
          <a:ln cap="flat" cmpd="sng" w="12700">
            <a:solidFill>
              <a:srgbClr val="2850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3200400" y="2997200"/>
            <a:ext cx="8382000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0, 10, 20, 30, 40, 50, 60, 70, 80, 90, 100 ...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635000" y="3708400"/>
            <a:ext cx="1092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Como calcular os </a:t>
            </a:r>
            <a:r>
              <a:rPr b="1" lang="pt-BR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b="1" lang="pt-BR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 de 4?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635000" y="4140200"/>
            <a:ext cx="10922000" cy="736600"/>
          </a:xfrm>
          <a:prstGeom prst="rect">
            <a:avLst/>
          </a:prstGeom>
          <a:solidFill>
            <a:srgbClr val="0E1E3C"/>
          </a:solidFill>
          <a:ln cap="flat" cmpd="sng" w="12700">
            <a:solidFill>
              <a:srgbClr val="5032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825500" y="4292600"/>
            <a:ext cx="1054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4x0=0  -&gt;  4x1=4  -&gt;  4x2=8  -&gt;  4x3=12  -&gt;  4x4=16  ...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635000" y="5029200"/>
            <a:ext cx="1092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b="1" lang="pt-BR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 de 4:   0, 4, 8, 12, 16, 20, 24, 28 ...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159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Exercício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1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Sequência</a:t>
            </a: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635000" y="990600"/>
            <a:ext cx="10922000" cy="40894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825500" y="1168400"/>
            <a:ext cx="10541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Escreva os 6 primeiros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5 (incluindo o zero).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159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Exercício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2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Complete a </a:t>
            </a: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sequência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635000" y="990600"/>
            <a:ext cx="10922000" cy="40894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825500" y="1168400"/>
            <a:ext cx="10541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os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3: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,  3 ,  ___ ,  ___ ,  ___ ,  ___ ,  ___ ,  21 ,  ___ ,  ___</a:t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159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Exercicio  3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Identifique os </a:t>
            </a: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635000" y="990600"/>
            <a:ext cx="10922000" cy="40894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825500" y="1168400"/>
            <a:ext cx="10541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Marque com X os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4: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   ) 8       (   ) 10       (   ) 16       (   ) 22       (   ) 28       (   ) 35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159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Exercício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4</a:t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Justifique com </a:t>
            </a: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cálculo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635000" y="990600"/>
            <a:ext cx="10922000" cy="40894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825500" y="1168400"/>
            <a:ext cx="10541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18 é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6?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Mostre o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cálculo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para justificar sua resposta.</a:t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1596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Exercício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5</a:t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Encontre os </a:t>
            </a: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635000" y="990600"/>
            <a:ext cx="10922000" cy="40894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825500" y="1168400"/>
            <a:ext cx="10541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Escreva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três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7 que sejam maiores que 20.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DC50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Situação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-Problema  1</a:t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Transporte escolar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635000" y="1016000"/>
            <a:ext cx="1092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ônibus</a:t>
            </a: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 escola</a:t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635000" y="1651000"/>
            <a:ext cx="10922000" cy="34290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825500" y="1828800"/>
            <a:ext cx="10541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ônibus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passa pela escola a cada 6 minutos. O primeiro passa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às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7h00. Quais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horários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5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ônibus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DC50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Situacao-Problema  2</a:t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Pizzas para as turmas</a:t>
            </a:r>
            <a:endParaRPr/>
          </a:p>
        </p:txBody>
      </p:sp>
      <p:sp>
        <p:nvSpPr>
          <p:cNvPr id="386" name="Google Shape;386;p22"/>
          <p:cNvSpPr txBox="1"/>
          <p:nvPr/>
        </p:nvSpPr>
        <p:spPr>
          <a:xfrm>
            <a:off x="635000" y="1016000"/>
            <a:ext cx="1092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Pizza na escola</a:t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635000" y="1651000"/>
            <a:ext cx="10922000" cy="34290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825500" y="1828800"/>
            <a:ext cx="10541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Modelos: Pequena=5 fatias |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Média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=6 fatias | Grande=8 fatias. 1 fatia por aluno, sem sobrar.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a) Turma A - 24 alunos: 2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combinações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b) Turma B - 27 alunos: 2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combinações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c) Turma C - 32 alunos: 3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combinações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d) Turma D - 19 alunos: é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possível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397" name="Google Shape;397;p23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406" name="Google Shape;406;p23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408" name="Google Shape;408;p23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409" name="Google Shape;409;p23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410" name="Google Shape;410;p23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411" name="Google Shape;411;p23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DC50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Situação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-Problema  3</a:t>
            </a:r>
            <a:endParaRPr/>
          </a:p>
        </p:txBody>
      </p:sp>
      <p:sp>
        <p:nvSpPr>
          <p:cNvPr id="414" name="Google Shape;414;p23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Poupança</a:t>
            </a: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endParaRPr/>
          </a:p>
        </p:txBody>
      </p:sp>
      <p:sp>
        <p:nvSpPr>
          <p:cNvPr id="416" name="Google Shape;416;p23"/>
          <p:cNvSpPr txBox="1"/>
          <p:nvPr/>
        </p:nvSpPr>
        <p:spPr>
          <a:xfrm>
            <a:off x="635000" y="1016000"/>
            <a:ext cx="1092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Pedro e o jogo</a:t>
            </a:r>
            <a:endParaRPr/>
          </a:p>
        </p:txBody>
      </p:sp>
      <p:sp>
        <p:nvSpPr>
          <p:cNvPr id="417" name="Google Shape;417;p23"/>
          <p:cNvSpPr/>
          <p:nvPr/>
        </p:nvSpPr>
        <p:spPr>
          <a:xfrm>
            <a:off x="635000" y="1651000"/>
            <a:ext cx="10922000" cy="34290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825500" y="1828800"/>
            <a:ext cx="10541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Pedro economiza R$8,00/semana. Jogo=R$48,00. Loja: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cartão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-presente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12.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a) Valores semanais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até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R$48,00. 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b) Quais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também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12?  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c)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Após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quantas semanas?</a:t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427" name="Google Shape;427;p24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429" name="Google Shape;429;p24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430" name="Google Shape;430;p24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437" name="Google Shape;437;p24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438" name="Google Shape;438;p24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439" name="Google Shape;439;p24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440" name="Google Shape;440;p24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441" name="Google Shape;441;p24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DC50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Situação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-Problema  4</a:t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 em comum</a:t>
            </a:r>
            <a:endParaRPr/>
          </a:p>
        </p:txBody>
      </p:sp>
      <p:sp>
        <p:nvSpPr>
          <p:cNvPr id="446" name="Google Shape;446;p24"/>
          <p:cNvSpPr txBox="1"/>
          <p:nvPr/>
        </p:nvSpPr>
        <p:spPr>
          <a:xfrm>
            <a:off x="635000" y="1016000"/>
            <a:ext cx="1092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Lucas e Marina</a:t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635000" y="1651000"/>
            <a:ext cx="10922000" cy="34290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825500" y="1828800"/>
            <a:ext cx="10541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Lucas treina a cada 3 dias, Marina a cada 4 dias. Hoje treinaram juntos.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quantos dias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voltarão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treinar no mesmo dia?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Dica: liste os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3 e de 4 e encontre o menor em comum.</a:t>
            </a:r>
            <a:endParaRPr/>
          </a:p>
        </p:txBody>
      </p:sp>
      <p:sp>
        <p:nvSpPr>
          <p:cNvPr id="449" name="Google Shape;449;p24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459" name="Google Shape;459;p25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460" name="Google Shape;460;p25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461" name="Google Shape;461;p25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5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5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466" name="Google Shape;466;p25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467" name="Google Shape;467;p25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468" name="Google Shape;468;p25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469" name="Google Shape;469;p25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470" name="Google Shape;470;p25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DC50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Situação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-Problema  5</a:t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Organização</a:t>
            </a: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 de livros</a:t>
            </a:r>
            <a:endParaRPr/>
          </a:p>
        </p:txBody>
      </p:sp>
      <p:sp>
        <p:nvSpPr>
          <p:cNvPr id="476" name="Google Shape;476;p25"/>
          <p:cNvSpPr txBox="1"/>
          <p:nvPr/>
        </p:nvSpPr>
        <p:spPr>
          <a:xfrm>
            <a:off x="635000" y="1016000"/>
            <a:ext cx="1092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biblioteca</a:t>
            </a: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635000" y="1651000"/>
            <a:ext cx="10922000" cy="34290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 txBox="1"/>
          <p:nvPr/>
        </p:nvSpPr>
        <p:spPr>
          <a:xfrm>
            <a:off x="825500" y="1828800"/>
            <a:ext cx="10541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Prateleiras de 9 livros. Chegaram 63 livros.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a) 63 e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9? Calcule.  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b) Quantas prateleiras?  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c) Se fossem de 7 livros, 63 seria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7?</a:t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487" name="Google Shape;487;p26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489" name="Google Shape;489;p26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490" name="Google Shape;490;p26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491" name="Google Shape;491;p26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496" name="Google Shape;496;p26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497" name="Google Shape;497;p26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498" name="Google Shape;498;p26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499" name="Google Shape;499;p26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500" name="Google Shape;500;p26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501" name="Google Shape;501;p26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DC50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Situação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-Problema  6</a:t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Embalagem de bombons</a:t>
            </a:r>
            <a:endParaRPr/>
          </a:p>
        </p:txBody>
      </p:sp>
      <p:sp>
        <p:nvSpPr>
          <p:cNvPr id="506" name="Google Shape;506;p26"/>
          <p:cNvSpPr txBox="1"/>
          <p:nvPr/>
        </p:nvSpPr>
        <p:spPr>
          <a:xfrm>
            <a:off x="635000" y="1016000"/>
            <a:ext cx="1092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Fábrica</a:t>
            </a: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chocolates</a:t>
            </a:r>
            <a:endParaRPr/>
          </a:p>
        </p:txBody>
      </p:sp>
      <p:sp>
        <p:nvSpPr>
          <p:cNvPr id="507" name="Google Shape;507;p26"/>
          <p:cNvSpPr/>
          <p:nvPr/>
        </p:nvSpPr>
        <p:spPr>
          <a:xfrm>
            <a:off x="635000" y="1651000"/>
            <a:ext cx="10922000" cy="34290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 txBox="1"/>
          <p:nvPr/>
        </p:nvSpPr>
        <p:spPr>
          <a:xfrm>
            <a:off x="825500" y="1828800"/>
            <a:ext cx="10541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 bombons. Caixas de 4, 6 ou 12 unidades.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a) Caixas de 4: quantas? 36 </a:t>
            </a:r>
            <a:r>
              <a:rPr lang="pt-B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4?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b) Caixas de 6: quantas? 36 </a:t>
            </a:r>
            <a:r>
              <a:rPr lang="pt-BR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6?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c) Caixas de 12: quantas? 36 é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12?</a:t>
            </a:r>
            <a:endParaRPr/>
          </a:p>
        </p:txBody>
      </p:sp>
      <p:sp>
        <p:nvSpPr>
          <p:cNvPr id="509" name="Google Shape;509;p26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6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517" name="Google Shape;517;p27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7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520" name="Google Shape;520;p27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7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7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526" name="Google Shape;526;p27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527" name="Google Shape;527;p27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528" name="Google Shape;528;p27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529" name="Google Shape;529;p27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531" name="Google Shape;531;p27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635000" y="279400"/>
            <a:ext cx="3492500" cy="558800"/>
          </a:xfrm>
          <a:prstGeom prst="rect">
            <a:avLst/>
          </a:prstGeom>
          <a:solidFill>
            <a:srgbClr val="DC50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7"/>
          <p:cNvSpPr txBox="1"/>
          <p:nvPr/>
        </p:nvSpPr>
        <p:spPr>
          <a:xfrm>
            <a:off x="711200" y="355600"/>
            <a:ext cx="3340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Situação</a:t>
            </a: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-Problema  7</a:t>
            </a:r>
            <a:endParaRPr/>
          </a:p>
        </p:txBody>
      </p:sp>
      <p:sp>
        <p:nvSpPr>
          <p:cNvPr id="534" name="Google Shape;534;p27"/>
          <p:cNvSpPr/>
          <p:nvPr/>
        </p:nvSpPr>
        <p:spPr>
          <a:xfrm>
            <a:off x="4267200" y="279400"/>
            <a:ext cx="7416800" cy="558800"/>
          </a:xfrm>
          <a:prstGeom prst="rect">
            <a:avLst/>
          </a:prstGeom>
          <a:solidFill>
            <a:srgbClr val="0E1E3E"/>
          </a:solidFill>
          <a:ln cap="flat" cmpd="sng" w="15225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4368800" y="355600"/>
            <a:ext cx="7213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Semaforos sincronizados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635000" y="1016000"/>
            <a:ext cx="1092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b="1" lang="pt-BR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semáforos</a:t>
            </a: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635000" y="1651000"/>
            <a:ext cx="10922000" cy="3429000"/>
          </a:xfrm>
          <a:prstGeom prst="rect">
            <a:avLst/>
          </a:prstGeom>
          <a:solidFill>
            <a:srgbClr val="0C1C38"/>
          </a:solidFill>
          <a:ln cap="flat" cmpd="sng" w="15225">
            <a:solidFill>
              <a:srgbClr val="23418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 txBox="1"/>
          <p:nvPr/>
        </p:nvSpPr>
        <p:spPr>
          <a:xfrm>
            <a:off x="825500" y="1828800"/>
            <a:ext cx="10541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Semáforo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A: 4 min.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Semáforo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B: 6 min. As 8h00 abriram juntos.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a) Primeiros 6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4 (sem zero).  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b) Primeiros 6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múltiplos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6 (sem zero).</a:t>
            </a:r>
            <a:b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c) Menor 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pt-BR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nas duas listas? Em quantos minutos abrem juntos?</a:t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635000" y="5156200"/>
            <a:ext cx="10922000" cy="635000"/>
          </a:xfrm>
          <a:prstGeom prst="rect">
            <a:avLst/>
          </a:prstGeom>
          <a:solidFill>
            <a:srgbClr val="08142A"/>
          </a:solidFill>
          <a:ln cap="flat" cmpd="sng" w="1270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825500" y="5283200"/>
            <a:ext cx="105410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496DC"/>
                </a:solidFill>
                <a:latin typeface="Calibri"/>
                <a:ea typeface="Calibri"/>
                <a:cs typeface="Calibri"/>
                <a:sym typeface="Calibri"/>
              </a:rPr>
              <a:t>Resposta: 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 txBox="1"/>
          <p:nvPr/>
        </p:nvSpPr>
        <p:spPr>
          <a:xfrm>
            <a:off x="190500" y="1905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∑</a:t>
            </a:r>
            <a:endParaRPr/>
          </a:p>
        </p:txBody>
      </p:sp>
      <p:sp>
        <p:nvSpPr>
          <p:cNvPr id="547" name="Google Shape;547;p28"/>
          <p:cNvSpPr txBox="1"/>
          <p:nvPr/>
        </p:nvSpPr>
        <p:spPr>
          <a:xfrm>
            <a:off x="11176000" y="2286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3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8"/>
          <p:cNvSpPr txBox="1"/>
          <p:nvPr/>
        </p:nvSpPr>
        <p:spPr>
          <a:xfrm>
            <a:off x="1778000" y="2794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∫</a:t>
            </a:r>
            <a:endParaRPr/>
          </a:p>
        </p:txBody>
      </p:sp>
      <p:sp>
        <p:nvSpPr>
          <p:cNvPr id="549" name="Google Shape;549;p28"/>
          <p:cNvSpPr txBox="1"/>
          <p:nvPr/>
        </p:nvSpPr>
        <p:spPr>
          <a:xfrm>
            <a:off x="5842000" y="127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/>
          </a:p>
        </p:txBody>
      </p:sp>
      <p:sp>
        <p:nvSpPr>
          <p:cNvPr id="550" name="Google Shape;550;p28"/>
          <p:cNvSpPr txBox="1"/>
          <p:nvPr/>
        </p:nvSpPr>
        <p:spPr>
          <a:xfrm>
            <a:off x="8890000" y="1905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/>
          </a:p>
        </p:txBody>
      </p:sp>
      <p:sp>
        <p:nvSpPr>
          <p:cNvPr id="551" name="Google Shape;551;p28"/>
          <p:cNvSpPr txBox="1"/>
          <p:nvPr/>
        </p:nvSpPr>
        <p:spPr>
          <a:xfrm>
            <a:off x="10414000" y="584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1" sz="32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 txBox="1"/>
          <p:nvPr/>
        </p:nvSpPr>
        <p:spPr>
          <a:xfrm>
            <a:off x="254000" y="58420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 txBox="1"/>
          <p:nvPr/>
        </p:nvSpPr>
        <p:spPr>
          <a:xfrm>
            <a:off x="2540000" y="6223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1" sz="26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5080000" y="6350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endParaRPr b="1" sz="30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8"/>
          <p:cNvSpPr txBox="1"/>
          <p:nvPr/>
        </p:nvSpPr>
        <p:spPr>
          <a:xfrm>
            <a:off x="7620000" y="6096000"/>
            <a:ext cx="6985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556" name="Google Shape;556;p28"/>
          <p:cNvSpPr txBox="1"/>
          <p:nvPr/>
        </p:nvSpPr>
        <p:spPr>
          <a:xfrm>
            <a:off x="9525000" y="5969000"/>
            <a:ext cx="6985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³</a:t>
            </a:r>
            <a:endParaRPr/>
          </a:p>
        </p:txBody>
      </p:sp>
      <p:sp>
        <p:nvSpPr>
          <p:cNvPr id="557" name="Google Shape;557;p28"/>
          <p:cNvSpPr txBox="1"/>
          <p:nvPr/>
        </p:nvSpPr>
        <p:spPr>
          <a:xfrm>
            <a:off x="635000" y="3302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/>
          </a:p>
        </p:txBody>
      </p:sp>
      <p:sp>
        <p:nvSpPr>
          <p:cNvPr id="558" name="Google Shape;558;p28"/>
          <p:cNvSpPr txBox="1"/>
          <p:nvPr/>
        </p:nvSpPr>
        <p:spPr>
          <a:xfrm>
            <a:off x="11430000" y="3302000"/>
            <a:ext cx="6985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÷</a:t>
            </a:r>
            <a:endParaRPr/>
          </a:p>
        </p:txBody>
      </p:sp>
      <p:sp>
        <p:nvSpPr>
          <p:cNvPr id="559" name="Google Shape;559;p28"/>
          <p:cNvSpPr txBox="1"/>
          <p:nvPr/>
        </p:nvSpPr>
        <p:spPr>
          <a:xfrm>
            <a:off x="1270000" y="1651000"/>
            <a:ext cx="6985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≈</a:t>
            </a:r>
            <a:endParaRPr/>
          </a:p>
        </p:txBody>
      </p:sp>
      <p:sp>
        <p:nvSpPr>
          <p:cNvPr id="560" name="Google Shape;560;p28"/>
          <p:cNvSpPr txBox="1"/>
          <p:nvPr/>
        </p:nvSpPr>
        <p:spPr>
          <a:xfrm>
            <a:off x="10541000" y="1778000"/>
            <a:ext cx="6985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∂</a:t>
            </a:r>
            <a:endParaRPr/>
          </a:p>
        </p:txBody>
      </p:sp>
      <p:sp>
        <p:nvSpPr>
          <p:cNvPr id="561" name="Google Shape;561;p28"/>
          <p:cNvSpPr txBox="1"/>
          <p:nvPr/>
        </p:nvSpPr>
        <p:spPr>
          <a:xfrm>
            <a:off x="5588000" y="3403600"/>
            <a:ext cx="69850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122D5A"/>
                </a:solidFill>
                <a:latin typeface="Calibri"/>
                <a:ea typeface="Calibri"/>
                <a:cs typeface="Calibri"/>
                <a:sym typeface="Calibri"/>
              </a:rPr>
              <a:t>φ</a:t>
            </a:r>
            <a:endParaRPr b="1" sz="3400">
              <a:solidFill>
                <a:srgbClr val="122D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381000" y="1524000"/>
            <a:ext cx="3048000" cy="247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00">
                <a:solidFill>
                  <a:srgbClr val="0F285A"/>
                </a:solidFill>
                <a:latin typeface="Calibri"/>
                <a:ea typeface="Calibri"/>
                <a:cs typeface="Calibri"/>
                <a:sym typeface="Calibri"/>
              </a:rPr>
              <a:t>π</a:t>
            </a:r>
            <a:endParaRPr b="1" sz="15500">
              <a:solidFill>
                <a:srgbClr val="0F28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3683000" y="1968500"/>
            <a:ext cx="812800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Bom trabalho!</a:t>
            </a:r>
            <a:endParaRPr/>
          </a:p>
        </p:txBody>
      </p:sp>
      <p:cxnSp>
        <p:nvCxnSpPr>
          <p:cNvPr id="565" name="Google Shape;565;p28"/>
          <p:cNvCxnSpPr/>
          <p:nvPr/>
        </p:nvCxnSpPr>
        <p:spPr>
          <a:xfrm>
            <a:off x="4064000" y="3073400"/>
            <a:ext cx="723900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6" name="Google Shape;566;p28"/>
          <p:cNvSpPr txBox="1"/>
          <p:nvPr/>
        </p:nvSpPr>
        <p:spPr>
          <a:xfrm>
            <a:off x="3683000" y="3225800"/>
            <a:ext cx="8128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6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Prof. Mikael  |  </a:t>
            </a:r>
            <a:r>
              <a:rPr i="1" lang="pt-BR" sz="16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Matemática</a:t>
            </a:r>
            <a:r>
              <a:rPr i="1" lang="pt-BR" sz="16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  |  6. Ano  |  2. Trimestre</a:t>
            </a:r>
            <a:endParaRPr/>
          </a:p>
        </p:txBody>
      </p:sp>
      <p:sp>
        <p:nvSpPr>
          <p:cNvPr id="567" name="Google Shape;567;p28"/>
          <p:cNvSpPr txBox="1"/>
          <p:nvPr/>
        </p:nvSpPr>
        <p:spPr>
          <a:xfrm>
            <a:off x="3683000" y="3810000"/>
            <a:ext cx="8128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Continue praticando! A </a:t>
            </a:r>
            <a:r>
              <a:rPr lang="pt-BR" sz="16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matemática</a:t>
            </a:r>
            <a:r>
              <a:rPr lang="pt-BR" sz="16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6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pt-BR" sz="1600">
                <a:solidFill>
                  <a:srgbClr val="BAD2F0"/>
                </a:solidFill>
                <a:latin typeface="Calibri"/>
                <a:ea typeface="Calibri"/>
                <a:cs typeface="Calibri"/>
                <a:sym typeface="Calibri"/>
              </a:rPr>
              <a:t> em todo lugar.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